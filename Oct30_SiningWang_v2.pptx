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00" r:id="rId3"/>
    <p:sldId id="293" r:id="rId4"/>
    <p:sldId id="294" r:id="rId5"/>
    <p:sldId id="274" r:id="rId6"/>
    <p:sldId id="304" r:id="rId7"/>
    <p:sldId id="297" r:id="rId8"/>
    <p:sldId id="296" r:id="rId9"/>
    <p:sldId id="278" r:id="rId10"/>
    <p:sldId id="273" r:id="rId11"/>
    <p:sldId id="277" r:id="rId12"/>
    <p:sldId id="276" r:id="rId13"/>
    <p:sldId id="280" r:id="rId14"/>
    <p:sldId id="279" r:id="rId15"/>
    <p:sldId id="282" r:id="rId16"/>
    <p:sldId id="283" r:id="rId17"/>
    <p:sldId id="284" r:id="rId18"/>
    <p:sldId id="305" r:id="rId19"/>
    <p:sldId id="285" r:id="rId20"/>
    <p:sldId id="302" r:id="rId21"/>
    <p:sldId id="287" r:id="rId22"/>
    <p:sldId id="286" r:id="rId23"/>
    <p:sldId id="288" r:id="rId24"/>
    <p:sldId id="289" r:id="rId25"/>
    <p:sldId id="258" r:id="rId26"/>
    <p:sldId id="303" r:id="rId27"/>
    <p:sldId id="270" r:id="rId28"/>
    <p:sldId id="2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/>
    <p:restoredTop sz="80917"/>
  </p:normalViewPr>
  <p:slideViewPr>
    <p:cSldViewPr snapToGrid="0">
      <p:cViewPr>
        <p:scale>
          <a:sx n="120" d="100"/>
          <a:sy n="120" d="100"/>
        </p:scale>
        <p:origin x="1696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61A2C-A126-B64A-9D54-A246DD6D351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14BC3-679E-8247-BF6F-2D3FC2EDC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8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17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Whenever a new technology arrives, one question always comes first:</a:t>
            </a:r>
            <a:br>
              <a:rPr lang="en-US" dirty="0"/>
            </a:br>
            <a:r>
              <a:rPr lang="en-US" i="1" dirty="0"/>
              <a:t>Will it take our jobs?</a:t>
            </a:r>
            <a:endParaRPr lang="en-US" dirty="0"/>
          </a:p>
          <a:p>
            <a:r>
              <a:rPr lang="en-US" dirty="0"/>
              <a:t>And it’s not a new question at all — it’s a </a:t>
            </a:r>
            <a:r>
              <a:rPr lang="en-US" i="1" dirty="0"/>
              <a:t>timeless fear</a:t>
            </a:r>
            <a:r>
              <a:rPr lang="en-US" dirty="0"/>
              <a:t>.</a:t>
            </a:r>
          </a:p>
          <a:p>
            <a:r>
              <a:rPr lang="en-US" dirty="0"/>
              <a:t>In the 1800s, during the Industrial Revolution, machines replaced </a:t>
            </a:r>
            <a:r>
              <a:rPr lang="en-US" dirty="0" err="1"/>
              <a:t>musles</a:t>
            </a:r>
            <a:br>
              <a:rPr lang="en-US" dirty="0"/>
            </a:br>
            <a:r>
              <a:rPr lang="en-US" dirty="0"/>
              <a:t>In the 1980s, automation and computers started replacing office and factory work.</a:t>
            </a:r>
            <a:br>
              <a:rPr lang="en-US" dirty="0"/>
            </a:br>
            <a:r>
              <a:rPr lang="en-US" dirty="0"/>
              <a:t>And now, in the 2020s, artificial intelligence is coming for knowledge work — the part of the economy we once thought was safely human.</a:t>
            </a:r>
          </a:p>
          <a:p>
            <a:r>
              <a:rPr lang="en-US" dirty="0"/>
              <a:t>Each time, the story begins the same way: anxiety, uncertainty, headlines warning of job loss.</a:t>
            </a:r>
          </a:p>
          <a:p>
            <a:r>
              <a:rPr lang="en-US" dirty="0"/>
              <a:t>But if we look back, something interesting happens after every wave of disruption — work doesn’t vanish; it transforms.</a:t>
            </a:r>
          </a:p>
          <a:p>
            <a:r>
              <a:rPr lang="en-US" dirty="0"/>
              <a:t>The challenge today is to understand whether this time is truly different.</a:t>
            </a:r>
          </a:p>
          <a:p>
            <a:r>
              <a:rPr lang="en-US" dirty="0"/>
              <a:t>Is AI just the next chapter in that same story…</a:t>
            </a:r>
            <a:br>
              <a:rPr lang="en-US" dirty="0"/>
            </a:br>
            <a:r>
              <a:rPr lang="en-US" dirty="0"/>
              <a:t>or are we crossing a new frontier?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56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first time, technology isn’t just automating physical labor or routine office work — it’s entering the </a:t>
            </a:r>
            <a:r>
              <a:rPr lang="en-US" i="1" dirty="0"/>
              <a:t>cognitive space</a:t>
            </a:r>
            <a:r>
              <a:rPr lang="en-US" dirty="0"/>
              <a:t>: writing, designing, analyzing, even reasoning.</a:t>
            </a:r>
            <a:br>
              <a:rPr lang="en-US" dirty="0"/>
            </a:br>
            <a:r>
              <a:rPr lang="en-US" dirty="0"/>
              <a:t>It touches the very kinds of work many of us identify with — teaching, research, management, creativity.</a:t>
            </a:r>
          </a:p>
          <a:p>
            <a:endParaRPr lang="en-US" dirty="0"/>
          </a:p>
          <a:p>
            <a:r>
              <a:rPr lang="en-US" dirty="0"/>
              <a:t>That’s why the anxiety feels stronger this time.</a:t>
            </a:r>
          </a:p>
          <a:p>
            <a:br>
              <a:rPr lang="en-US" dirty="0"/>
            </a:br>
            <a:r>
              <a:rPr lang="en-US" dirty="0"/>
              <a:t>But if we step back and look at the data, the story turns out to be more nuanced.</a:t>
            </a:r>
          </a:p>
          <a:p>
            <a:r>
              <a:rPr lang="en-US" dirty="0"/>
              <a:t>AI is indeed spreading rapidly across firms and industries — it’s everywhere.</a:t>
            </a:r>
            <a:br>
              <a:rPr lang="en-US" dirty="0"/>
            </a:br>
            <a:r>
              <a:rPr lang="en-US" dirty="0"/>
              <a:t>Yet when we look closely, it’s not eliminating entire occupations.</a:t>
            </a:r>
            <a:br>
              <a:rPr lang="en-US" dirty="0"/>
            </a:br>
            <a:r>
              <a:rPr lang="en-US" dirty="0"/>
              <a:t>It’s changing </a:t>
            </a:r>
            <a:r>
              <a:rPr lang="en-US" i="1" dirty="0"/>
              <a:t>what people do</a:t>
            </a:r>
            <a:r>
              <a:rPr lang="en-US" dirty="0"/>
              <a:t> inside those jobs, how firms organize work, and who captures the new opportunities.”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68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let’s look at what the data actually tell us.</a:t>
            </a:r>
          </a:p>
          <a:p>
            <a:r>
              <a:rPr lang="en-US" dirty="0"/>
              <a:t>Across industries and firms, AI doesn’t seem to be wiping out entire occupations.</a:t>
            </a:r>
            <a:br>
              <a:rPr lang="en-US" dirty="0"/>
            </a:br>
            <a:r>
              <a:rPr lang="en-US" dirty="0"/>
              <a:t>Instead, it’s changing the </a:t>
            </a:r>
            <a:r>
              <a:rPr lang="en-US" i="1" dirty="0"/>
              <a:t>mix of tasks</a:t>
            </a:r>
            <a:r>
              <a:rPr lang="en-US" dirty="0"/>
              <a:t> inside them — what people spend time on, what gets automated, and what new work emerges.</a:t>
            </a:r>
          </a:p>
          <a:p>
            <a:r>
              <a:rPr lang="en-US" dirty="0"/>
              <a:t>In other words, AI reallocates tasks more than it eliminates jobs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3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first zoom out and see what the data say about how widely AI has been adopted.</a:t>
            </a:r>
          </a:p>
          <a:p>
            <a:endParaRPr lang="en-US" dirty="0"/>
          </a:p>
          <a:p>
            <a:r>
              <a:rPr lang="en-US" dirty="0"/>
              <a:t>This figure  track AI adoption across U.S. industries, capture adoption patterns up to the </a:t>
            </a:r>
            <a:r>
              <a:rPr lang="en-US" b="1" dirty="0"/>
              <a:t>end of 2023</a:t>
            </a:r>
            <a:r>
              <a:rPr lang="en-US" dirty="0"/>
              <a:t>.</a:t>
            </a:r>
          </a:p>
          <a:p>
            <a:r>
              <a:rPr lang="en-US" dirty="0"/>
              <a:t>Even at that point, On average, about </a:t>
            </a:r>
            <a:r>
              <a:rPr lang="en-US" b="1" dirty="0"/>
              <a:t>one in four firms</a:t>
            </a:r>
            <a:r>
              <a:rPr lang="en-US" dirty="0"/>
              <a:t>—that’s roughly </a:t>
            </a:r>
            <a:r>
              <a:rPr lang="en-US" b="1" dirty="0"/>
              <a:t>25 percent</a:t>
            </a:r>
            <a:r>
              <a:rPr lang="en-US" dirty="0"/>
              <a:t>—have used AI in at least one part of their operations during this period.</a:t>
            </a:r>
          </a:p>
          <a:p>
            <a:r>
              <a:rPr lang="en-US" dirty="0"/>
              <a:t>Adoption isn’t uniform, though. You can see that it’s </a:t>
            </a:r>
            <a:r>
              <a:rPr lang="en-US" b="1" dirty="0"/>
              <a:t>highest in information and technology industries—around 50 percent of firms</a:t>
            </a:r>
            <a:r>
              <a:rPr lang="en-US" dirty="0"/>
              <a:t>, followed by </a:t>
            </a:r>
            <a:r>
              <a:rPr lang="en-US" b="1" dirty="0"/>
              <a:t>professional services at 36 percent</a:t>
            </a:r>
            <a:r>
              <a:rPr lang="en-US" dirty="0"/>
              <a:t> and </a:t>
            </a:r>
            <a:r>
              <a:rPr lang="en-US" b="1" dirty="0"/>
              <a:t>finance and insurance at about 31 percent</a:t>
            </a:r>
            <a:r>
              <a:rPr lang="en-US" dirty="0"/>
              <a:t>.</a:t>
            </a:r>
          </a:p>
          <a:p>
            <a:r>
              <a:rPr lang="en-US" dirty="0"/>
              <a:t>Sectors like </a:t>
            </a:r>
            <a:r>
              <a:rPr lang="en-US" b="1" dirty="0"/>
              <a:t>manufacturing, healthcare, and food services</a:t>
            </a:r>
            <a:r>
              <a:rPr lang="en-US" dirty="0"/>
              <a:t> are much lower—typically under 15 percent—but the trend is upward across every sector.</a:t>
            </a:r>
          </a:p>
          <a:p>
            <a:r>
              <a:rPr lang="en-US" dirty="0"/>
              <a:t>The different shades of blue show </a:t>
            </a:r>
            <a:r>
              <a:rPr lang="en-US" b="1" dirty="0"/>
              <a:t>firm size</a:t>
            </a:r>
            <a:r>
              <a:rPr lang="en-US" dirty="0"/>
              <a:t>, and notice how adoption rises sharply with size. Larger firms—those with over 250 employees—are consistently the most active adopters.</a:t>
            </a:r>
          </a:p>
          <a:p>
            <a:r>
              <a:rPr lang="en-US" dirty="0"/>
              <a:t>So the takeaway is that AI isn’t a niche experiment anymore—it’s broadly integrated into how modern firms operate, especially in information-intensive sectors.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52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253E4-D667-4617-3A6C-81B95344B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002E4-B4E7-ABA2-5AA6-48AECCDF0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62399-33C7-C1EB-BEFB-14DF32D44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 do for a living joke</a:t>
            </a:r>
          </a:p>
          <a:p>
            <a:endParaRPr lang="en-US" dirty="0"/>
          </a:p>
          <a:p>
            <a:r>
              <a:rPr lang="en-US" dirty="0"/>
              <a:t>and more formally, the best place to find a description on any job title, is on job posting.</a:t>
            </a:r>
          </a:p>
          <a:p>
            <a:r>
              <a:rPr lang="en-US" dirty="0"/>
              <a:t>If you actually wanted to know what a specific job looks like, go to </a:t>
            </a:r>
            <a:r>
              <a:rPr lang="en-US" dirty="0" err="1"/>
              <a:t>linkedin</a:t>
            </a:r>
            <a:r>
              <a:rPr lang="en-US" dirty="0"/>
              <a:t>, or Indeed, or any job board, and search that title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is an example job posting. most importantly, a job is being best described by its responsibilities.</a:t>
            </a:r>
          </a:p>
          <a:p>
            <a:endParaRPr lang="en-US" dirty="0"/>
          </a:p>
          <a:p>
            <a:r>
              <a:rPr lang="en-US" dirty="0"/>
              <a:t>Overtime, under the same title, or very similar titles, the descriptions about responsibilities will 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31341-BBF0-0ED4-3661-D5BD66F46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05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0027-F64E-2E37-9B00-F75E46F3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72209-DE4C-1BF9-79B4-520B80D0F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904E2-4E8A-1AC6-1DFD-4F9ACB763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make our like a little easier, I highlighted what changed about this job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012E0-DB6A-71FD-8EE5-64535D4DF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82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Job-level measures</a:t>
            </a:r>
            <a:r>
              <a:rPr lang="en-US" dirty="0"/>
              <a:t> miss that nuance — they assume “AI affects accountants” or “doesn’t affect teachers,” ignoring which parts of the job (e.g., grading vs. mentoring) are actually impacted.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14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B43B-E8B0-CE69-5173-37D5D765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C2C18-82FD-B387-0FF8-43B9FDF4A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410DA-EB4F-585E-9390-2CE67CB5C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FD7BB-657C-20E2-D386-A5BA83C6B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45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87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Dependent variable : </a:t>
            </a:r>
            <a:r>
              <a:rPr lang="en-US" b="1" dirty="0"/>
              <a:t>how often skills associated with a specific task</a:t>
            </a:r>
            <a:r>
              <a:rPr lang="en-US" dirty="0"/>
              <a:t> show up in job postings over time.</a:t>
            </a:r>
          </a:p>
          <a:p>
            <a:endParaRPr lang="en-US" dirty="0"/>
          </a:p>
          <a:p>
            <a:r>
              <a:rPr lang="en-US" dirty="0"/>
              <a:t>Here’s what the math says: for tasks AI can handle well, mentions in job ads fall by about two percent. The job stays, but its contents shrink.”</a:t>
            </a:r>
          </a:p>
          <a:p>
            <a:endParaRPr lang="en-US" dirty="0"/>
          </a:p>
          <a:p>
            <a:r>
              <a:rPr lang="en-US" dirty="0"/>
              <a:t>Nowadays it is rare to see a job posting that contains the task "use Microsoft word to process document"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6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far, we’ve seen that AI changes the </a:t>
            </a:r>
            <a:r>
              <a:rPr lang="en-US" i="1" dirty="0"/>
              <a:t>tasks</a:t>
            </a:r>
            <a:r>
              <a:rPr lang="en-US" dirty="0"/>
              <a:t> inside jobs, and that adopting firms often grow.</a:t>
            </a:r>
            <a:br>
              <a:rPr lang="en-US" dirty="0"/>
            </a:br>
            <a:r>
              <a:rPr lang="en-US" dirty="0"/>
              <a:t>But what about </a:t>
            </a:r>
            <a:r>
              <a:rPr lang="en-US" i="1" dirty="0"/>
              <a:t>who gets hired</a:t>
            </a:r>
            <a:r>
              <a:rPr lang="en-US" dirty="0"/>
              <a:t>?</a:t>
            </a:r>
          </a:p>
          <a:p>
            <a:r>
              <a:rPr lang="en-US" dirty="0"/>
              <a:t>This table looks at employment opportunities at the firm–occupation level — in other words, how likely a firm is to post or hire for a given occupation once AI enters.</a:t>
            </a:r>
          </a:p>
          <a:p>
            <a:r>
              <a:rPr lang="en-US" dirty="0"/>
              <a:t>The red row shows the effect of </a:t>
            </a:r>
            <a:r>
              <a:rPr lang="en-US" b="1" dirty="0"/>
              <a:t>AI exposure average</a:t>
            </a:r>
            <a:r>
              <a:rPr lang="en-US" dirty="0"/>
              <a:t> — that is, when a job’s tasks are highly automatable by AI.</a:t>
            </a:r>
            <a:br>
              <a:rPr lang="en-US" dirty="0"/>
            </a:br>
            <a:r>
              <a:rPr lang="en-US" dirty="0"/>
              <a:t>The coefficients are all </a:t>
            </a:r>
            <a:r>
              <a:rPr lang="en-US" b="1" dirty="0"/>
              <a:t>negative</a:t>
            </a:r>
            <a:r>
              <a:rPr lang="en-US" dirty="0"/>
              <a:t>, around –8 to –15.</a:t>
            </a:r>
            <a:br>
              <a:rPr lang="en-US" dirty="0"/>
            </a:br>
            <a:r>
              <a:rPr lang="en-US" dirty="0"/>
              <a:t>That means occupations heavily exposed to AI see </a:t>
            </a:r>
            <a:r>
              <a:rPr lang="en-US" b="1" dirty="0"/>
              <a:t>8–15 percent fewer employment opportunities</a:t>
            </a:r>
            <a:r>
              <a:rPr lang="en-US" dirty="0"/>
              <a:t> within firms.</a:t>
            </a:r>
          </a:p>
          <a:p>
            <a:r>
              <a:rPr lang="en-US" dirty="0"/>
              <a:t>But notice the green row — </a:t>
            </a:r>
            <a:r>
              <a:rPr lang="en-US" b="1" dirty="0"/>
              <a:t>AI exposure concentration</a:t>
            </a:r>
            <a:r>
              <a:rPr lang="en-US" dirty="0"/>
              <a:t> — that measures firms that focus AI on just a few occupations.</a:t>
            </a:r>
            <a:br>
              <a:rPr lang="en-US" dirty="0"/>
            </a:br>
            <a:r>
              <a:rPr lang="en-US" dirty="0"/>
              <a:t>The coefficients there are </a:t>
            </a:r>
            <a:r>
              <a:rPr lang="en-US" i="1" dirty="0"/>
              <a:t>positive</a:t>
            </a:r>
            <a:r>
              <a:rPr lang="en-US" dirty="0"/>
              <a:t>, roughly +1 to +9.</a:t>
            </a:r>
            <a:br>
              <a:rPr lang="en-US" dirty="0"/>
            </a:br>
            <a:r>
              <a:rPr lang="en-US" dirty="0"/>
              <a:t>Those firms are expanding opportunities in specific AI-augmented roles.</a:t>
            </a:r>
          </a:p>
          <a:p>
            <a:r>
              <a:rPr lang="en-US" dirty="0"/>
              <a:t>Finally, the last green box shows </a:t>
            </a:r>
            <a:r>
              <a:rPr lang="en-US" b="1" dirty="0"/>
              <a:t>log(1 + AI uses)</a:t>
            </a:r>
            <a:r>
              <a:rPr lang="en-US" dirty="0"/>
              <a:t> — a measure of firm adoption intensity — also strongly positive.</a:t>
            </a:r>
            <a:br>
              <a:rPr lang="en-US" dirty="0"/>
            </a:br>
            <a:r>
              <a:rPr lang="en-US" dirty="0"/>
              <a:t>So overall, firms that adopt AI hire more, but the distribution shifts:</a:t>
            </a:r>
            <a:br>
              <a:rPr lang="en-US" dirty="0"/>
            </a:br>
            <a:r>
              <a:rPr lang="en-US" dirty="0"/>
              <a:t>some occupations shrink, while others grow sharply.”</a:t>
            </a:r>
          </a:p>
          <a:p>
            <a:endParaRPr lang="en-US" dirty="0"/>
          </a:p>
          <a:p>
            <a:r>
              <a:rPr lang="en-US" dirty="0"/>
              <a:t>AI exposed occupation drop is understandable</a:t>
            </a:r>
          </a:p>
          <a:p>
            <a:r>
              <a:rPr lang="en-US" dirty="0"/>
              <a:t>Why AI augmenting occupations are increasing?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93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97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34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far, the data show that AI isn’t wiping out jobs across the economy—it’s rearranging what people do.</a:t>
            </a:r>
            <a:br>
              <a:rPr lang="en-US" dirty="0"/>
            </a:br>
            <a:r>
              <a:rPr lang="en-US" dirty="0"/>
              <a:t>But averages can hide what’s happening underneath. Every technological shift starts by reshaping the </a:t>
            </a:r>
            <a:r>
              <a:rPr lang="en-US" i="1" dirty="0"/>
              <a:t>edges</a:t>
            </a:r>
            <a:r>
              <a:rPr lang="en-US" dirty="0"/>
              <a:t> of the labor market first—often where workers have less experience or bargaining power.</a:t>
            </a:r>
            <a:br>
              <a:rPr lang="en-US" dirty="0"/>
            </a:br>
            <a:r>
              <a:rPr lang="en-US" dirty="0"/>
              <a:t>To understand the early signals of change, let’s zoom in from the 30,000-foot view of the labor market to what’s happening </a:t>
            </a:r>
            <a:r>
              <a:rPr lang="en-US" i="1" dirty="0"/>
              <a:t>on the ground</a:t>
            </a:r>
            <a:r>
              <a:rPr lang="en-US" dirty="0"/>
              <a:t>—especially for those entering it for the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86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important to understand where these numbers come from.</a:t>
            </a:r>
          </a:p>
          <a:p>
            <a:r>
              <a:rPr lang="en-US" dirty="0"/>
              <a:t>Brynjolfsson and his co-authors use a remarkable dataset from </a:t>
            </a:r>
            <a:r>
              <a:rPr lang="en-US" b="1" dirty="0"/>
              <a:t>ADP (automatic data processing)</a:t>
            </a:r>
            <a:r>
              <a:rPr lang="en-US" dirty="0"/>
              <a:t>, the largest payroll processor in the United States. It process roughly 1 in 6 private-sector workers in the U.S.</a:t>
            </a:r>
          </a:p>
          <a:p>
            <a:r>
              <a:rPr lang="en-US" dirty="0"/>
              <a:t>It’s administrative, not survey data — meaning it tracks </a:t>
            </a:r>
            <a:r>
              <a:rPr lang="en-US" b="1" dirty="0"/>
              <a:t>actual employment and paychecks</a:t>
            </a:r>
            <a:r>
              <a:rPr lang="en-US" dirty="0"/>
              <a:t> every month for </a:t>
            </a:r>
            <a:r>
              <a:rPr lang="en-US" b="1" dirty="0"/>
              <a:t>millions of workers</a:t>
            </a:r>
            <a:r>
              <a:rPr lang="en-US" dirty="0"/>
              <a:t> across </a:t>
            </a:r>
            <a:r>
              <a:rPr lang="en-US" b="1" dirty="0"/>
              <a:t>tens of thousands of firms</a:t>
            </a:r>
            <a:r>
              <a:rPr lang="en-US" dirty="0"/>
              <a:t>.</a:t>
            </a:r>
          </a:p>
          <a:p>
            <a:r>
              <a:rPr lang="en-US" dirty="0"/>
              <a:t>The researchers link those payroll records to measures of </a:t>
            </a:r>
            <a:r>
              <a:rPr lang="en-US" b="1" dirty="0"/>
              <a:t>AI exposure by occupation</a:t>
            </a:r>
            <a:r>
              <a:rPr lang="en-US" dirty="0"/>
              <a:t>, derived from how closely each job’s tasks align with what modern AI systems — like GPT-4 — can perform.</a:t>
            </a:r>
          </a:p>
          <a:p>
            <a:r>
              <a:rPr lang="en-US" dirty="0"/>
              <a:t>This linkage allows them to see, in near real time, how employment changes inside firms and occupations as AI diffuses — who’s being hired, who’s leaving, and whether those patterns differ by age and seniority.</a:t>
            </a:r>
          </a:p>
          <a:p>
            <a:r>
              <a:rPr lang="en-US" dirty="0"/>
              <a:t>Because the data extend through </a:t>
            </a:r>
            <a:r>
              <a:rPr lang="en-US" b="1" dirty="0"/>
              <a:t>mid-2025</a:t>
            </a:r>
            <a:r>
              <a:rPr lang="en-US" dirty="0"/>
              <a:t>, it gives one of the most up-to-date and credible pictures of AI’s impact on the U.S. workforce.”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82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109A6-FA68-9933-FB64-CCB261CA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54CE5-2F5F-C825-CB25-D3BD04058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DA978-3BBC-FD42-C11E-7F4D9CB91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figure shows what’s been happening inside firms since the rise of generative AI.</a:t>
            </a:r>
          </a:p>
          <a:p>
            <a:r>
              <a:rPr lang="en-US" dirty="0"/>
              <a:t>On both panels, the vertical dashed line marks the release of ChatGPT — roughly late 2022 — the point when generative AI began diffusing widely.</a:t>
            </a:r>
          </a:p>
          <a:p>
            <a:r>
              <a:rPr lang="en-US" dirty="0"/>
              <a:t>The lines track employment by age group, normalized so that each group starts at the same level in 2021.</a:t>
            </a:r>
          </a:p>
          <a:p>
            <a:r>
              <a:rPr lang="en-US" dirty="0"/>
              <a:t>Focus on the blue line — that’s </a:t>
            </a:r>
            <a:r>
              <a:rPr lang="en-US" b="1" dirty="0"/>
              <a:t>early-career workers, age 22–25</a:t>
            </a:r>
            <a:r>
              <a:rPr lang="en-US" dirty="0"/>
              <a:t>.</a:t>
            </a:r>
          </a:p>
          <a:p>
            <a:r>
              <a:rPr lang="en-US" dirty="0"/>
              <a:t>You can see that right after the widespread adoption of AI tools, employment for this youngest group </a:t>
            </a:r>
            <a:r>
              <a:rPr lang="en-US" b="1" dirty="0"/>
              <a:t>drops sharply</a:t>
            </a:r>
            <a:r>
              <a:rPr lang="en-US" dirty="0"/>
              <a:t>, while older workers — especially those in their late 30s, 40s, and 50s — either remain stable or grow.</a:t>
            </a:r>
          </a:p>
          <a:p>
            <a:r>
              <a:rPr lang="en-US" dirty="0"/>
              <a:t>The same pattern appears in two very different occupations — </a:t>
            </a:r>
            <a:r>
              <a:rPr lang="en-US" b="1" dirty="0"/>
              <a:t>software development</a:t>
            </a:r>
            <a:r>
              <a:rPr lang="en-US" dirty="0"/>
              <a:t>, on the left, and </a:t>
            </a:r>
            <a:r>
              <a:rPr lang="en-US" b="1" dirty="0"/>
              <a:t>customer service</a:t>
            </a:r>
            <a:r>
              <a:rPr lang="en-US" dirty="0"/>
              <a:t>, on the right.</a:t>
            </a:r>
          </a:p>
          <a:p>
            <a:r>
              <a:rPr lang="en-US" dirty="0"/>
              <a:t>In both, young workers lose ground — roughly a </a:t>
            </a:r>
            <a:r>
              <a:rPr lang="en-US" b="1" dirty="0"/>
              <a:t>13% decline</a:t>
            </a:r>
            <a:r>
              <a:rPr lang="en-US" dirty="0"/>
              <a:t> relative to older peers — suggesting that entry-level tasks, the ones new hires typically start with, are being automated away.</a:t>
            </a:r>
          </a:p>
          <a:p>
            <a:r>
              <a:rPr lang="en-US" dirty="0"/>
              <a:t>So even though overall employment in these firms might be stable or growing, </a:t>
            </a:r>
            <a:r>
              <a:rPr lang="en-US" b="1" dirty="0"/>
              <a:t>the entry points for young workers are shrinking.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9095A-4920-351D-0215-EB9A25EE4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31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C388A-0C4B-01BE-A596-EF116BC7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08356-C1A3-53AE-6529-EF2B664CE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17F30-1EA7-4AF3-F93F-0C7842C03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figure makes the pattern even clearer.</a:t>
            </a:r>
          </a:p>
          <a:p>
            <a:r>
              <a:rPr lang="en-US" dirty="0"/>
              <a:t>On the horizontal axis, we have age groups; on the vertical, their employment growth since 2022.</a:t>
            </a:r>
            <a:br>
              <a:rPr lang="en-US" dirty="0"/>
            </a:br>
            <a:r>
              <a:rPr lang="en-US" dirty="0"/>
              <a:t>The colors separate occupations by </a:t>
            </a:r>
            <a:r>
              <a:rPr lang="en-US" b="1" dirty="0"/>
              <a:t>AI exposure</a:t>
            </a:r>
            <a:r>
              <a:rPr lang="en-US" dirty="0"/>
              <a:t>:</a:t>
            </a:r>
          </a:p>
          <a:p>
            <a:r>
              <a:rPr lang="en-US" dirty="0"/>
              <a:t>blue bars are jobs with </a:t>
            </a:r>
            <a:r>
              <a:rPr lang="en-US" b="1" dirty="0"/>
              <a:t>low exposure</a:t>
            </a:r>
            <a:r>
              <a:rPr lang="en-US" dirty="0"/>
              <a:t> to AI,</a:t>
            </a:r>
          </a:p>
          <a:p>
            <a:r>
              <a:rPr lang="en-US" dirty="0"/>
              <a:t>orange bars are </a:t>
            </a:r>
            <a:r>
              <a:rPr lang="en-US" b="1" dirty="0"/>
              <a:t>high-exposure</a:t>
            </a:r>
            <a:r>
              <a:rPr lang="en-US" dirty="0"/>
              <a:t> occupations,</a:t>
            </a:r>
          </a:p>
          <a:p>
            <a:r>
              <a:rPr lang="en-US" dirty="0"/>
              <a:t>green shows the average across all.</a:t>
            </a:r>
          </a:p>
          <a:p>
            <a:r>
              <a:rPr lang="en-US" dirty="0"/>
              <a:t>Look at the left side — workers aged </a:t>
            </a:r>
            <a:r>
              <a:rPr lang="en-US" b="1" dirty="0"/>
              <a:t>22 to 25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high-exposure occupations, shown in orange, employment actually </a:t>
            </a:r>
            <a:r>
              <a:rPr lang="en-US" b="1" dirty="0"/>
              <a:t>declined by about 5 percent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But for the same age group in low-exposure jobs, shown in blue, employment still grew around </a:t>
            </a:r>
            <a:r>
              <a:rPr lang="en-US" b="1" dirty="0"/>
              <a:t>9 percent</a:t>
            </a:r>
            <a:r>
              <a:rPr lang="en-US" dirty="0"/>
              <a:t>.</a:t>
            </a:r>
          </a:p>
          <a:p>
            <a:r>
              <a:rPr lang="en-US" dirty="0"/>
              <a:t>Now move to the right: older workers, especially those in their mid-30s to 40s, see positive growth in all cases — even in high-exposure occupations.</a:t>
            </a:r>
          </a:p>
          <a:p>
            <a:r>
              <a:rPr lang="en-US" dirty="0"/>
              <a:t>So AI doesn’t just change what firms do; it </a:t>
            </a:r>
            <a:r>
              <a:rPr lang="en-US" b="1" dirty="0"/>
              <a:t>widens the gap between younger and older workers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Early-career workers are losing the very entry-level tasks that used to give them a foothold, while experienced workers — who combine AI with existing know-how — are expanding their roles.</a:t>
            </a:r>
          </a:p>
          <a:p>
            <a:r>
              <a:rPr lang="en-US" dirty="0"/>
              <a:t>This is what the authors call </a:t>
            </a:r>
            <a:r>
              <a:rPr lang="en-US" b="1" dirty="0"/>
              <a:t>‘seniority-biased technological change.’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A2059-4371-CA20-D4BA-543626F11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43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Interpretation:</a:t>
            </a:r>
            <a:r>
              <a:rPr lang="en-US" dirty="0"/>
              <a:t> Firms are retaining or hiring experienced talent but scaling back entry-level positions.</a:t>
            </a:r>
          </a:p>
          <a:p>
            <a:r>
              <a:rPr lang="en-US" b="1" dirty="0"/>
              <a:t>Implication:</a:t>
            </a:r>
            <a:r>
              <a:rPr lang="en-US" dirty="0"/>
              <a:t> The first effects of AI adoption appear not in layoffs, but in </a:t>
            </a:r>
            <a:r>
              <a:rPr lang="en-US" i="1" dirty="0"/>
              <a:t>who gets hired next.</a:t>
            </a:r>
          </a:p>
          <a:p>
            <a:endParaRPr lang="en-US" i="1" dirty="0"/>
          </a:p>
          <a:p>
            <a:r>
              <a:rPr lang="en-US" dirty="0"/>
              <a:t>This shows how the gap between junior and senior roles has widened since the arrival of generative AI.</a:t>
            </a:r>
          </a:p>
          <a:p>
            <a:r>
              <a:rPr lang="en-US" dirty="0"/>
              <a:t>The red line represents </a:t>
            </a:r>
            <a:r>
              <a:rPr lang="en-US" b="1" dirty="0"/>
              <a:t>junior positions</a:t>
            </a:r>
            <a:r>
              <a:rPr lang="en-US" dirty="0"/>
              <a:t>, and the blue line represents </a:t>
            </a:r>
            <a:r>
              <a:rPr lang="en-US" b="1" dirty="0"/>
              <a:t>senior positions</a:t>
            </a:r>
            <a:r>
              <a:rPr lang="en-US" dirty="0"/>
              <a:t>. The dashed vertical line marks late 2022 — when AI tools began diffusing widely across firms.</a:t>
            </a:r>
          </a:p>
          <a:p>
            <a:r>
              <a:rPr lang="en-US" dirty="0"/>
              <a:t>Before 2022, both groups moved together — firms were adding juniors and seniors at roughly the same rate.</a:t>
            </a:r>
            <a:br>
              <a:rPr lang="en-US" dirty="0"/>
            </a:br>
            <a:r>
              <a:rPr lang="en-US" dirty="0"/>
              <a:t>But after 2022, the lines diverge.</a:t>
            </a:r>
            <a:br>
              <a:rPr lang="en-US" dirty="0"/>
            </a:br>
            <a:r>
              <a:rPr lang="en-US" dirty="0"/>
              <a:t>Senior employment keeps climbing, while junior roles flatten and then start to decline.</a:t>
            </a:r>
          </a:p>
          <a:p>
            <a:r>
              <a:rPr lang="en-US" dirty="0"/>
              <a:t>The total employment line in gray remains positive — firms are still growing — but they’re doing so by hiring more senior workers, not entry-level ones.</a:t>
            </a:r>
          </a:p>
          <a:p>
            <a:r>
              <a:rPr lang="en-US" dirty="0"/>
              <a:t>In other words, </a:t>
            </a:r>
            <a:r>
              <a:rPr lang="en-US" b="1" dirty="0"/>
              <a:t>AI hasn’t reduced headcount — it’s changed who gets hired.</a:t>
            </a:r>
            <a:br>
              <a:rPr lang="en-US" dirty="0"/>
            </a:br>
            <a:r>
              <a:rPr lang="en-US" dirty="0"/>
              <a:t>The ladder is still there, but the bottom rungs are disappearing.”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8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Together, the two panels illustrate a </a:t>
            </a:r>
            <a:r>
              <a:rPr lang="en-US" b="1" dirty="0"/>
              <a:t>seniority bias in AI adoption</a:t>
            </a:r>
            <a:r>
              <a:rPr lang="en-US" dirty="0"/>
              <a:t>:</a:t>
            </a:r>
          </a:p>
          <a:p>
            <a:r>
              <a:rPr lang="en-US" b="1" dirty="0"/>
              <a:t>Substitution effect</a:t>
            </a:r>
            <a:r>
              <a:rPr lang="en-US" dirty="0"/>
              <a:t> → Juniors displaced in AI-adopting firms.</a:t>
            </a:r>
          </a:p>
          <a:p>
            <a:r>
              <a:rPr lang="en-US" b="1" dirty="0"/>
              <a:t>Complementarity effect</a:t>
            </a:r>
            <a:r>
              <a:rPr lang="en-US" dirty="0"/>
              <a:t> → Seniors benefit, gain demand, or absorb more decision authority.</a:t>
            </a:r>
          </a:p>
          <a:p>
            <a:r>
              <a:rPr lang="en-US" dirty="0"/>
              <a:t>The economy-level result is a </a:t>
            </a:r>
            <a:r>
              <a:rPr lang="en-US" i="1" dirty="0"/>
              <a:t>polarization within firms</a:t>
            </a:r>
            <a:r>
              <a:rPr lang="en-US" dirty="0"/>
              <a:t>: AI doesn’t destroy jobs uniformly — it redistributes them toward experience.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figure gives us the final piece of the story — it compares firms that have adopted AI tools with those that haven’t.</a:t>
            </a:r>
          </a:p>
          <a:p>
            <a:r>
              <a:rPr lang="en-US" dirty="0"/>
              <a:t>On the left, we see </a:t>
            </a:r>
            <a:r>
              <a:rPr lang="en-US" b="1" dirty="0"/>
              <a:t>junior positions</a:t>
            </a:r>
            <a:r>
              <a:rPr lang="en-US" dirty="0"/>
              <a:t>. The dashed red line shows non-adopting firms; the solid red line shows AI adopters.</a:t>
            </a:r>
            <a:br>
              <a:rPr lang="en-US" dirty="0"/>
            </a:br>
            <a:r>
              <a:rPr lang="en-US" dirty="0"/>
              <a:t>Before 2022, the two move together. But once AI diffuses — marked by the dashed vertical line — adopters begin hiring </a:t>
            </a:r>
            <a:r>
              <a:rPr lang="en-US" b="1" dirty="0"/>
              <a:t>fewer juniors</a:t>
            </a:r>
            <a:r>
              <a:rPr lang="en-US" dirty="0"/>
              <a:t>. Employment among young workers in those firms falls faster.</a:t>
            </a:r>
          </a:p>
          <a:p>
            <a:r>
              <a:rPr lang="en-US" dirty="0"/>
              <a:t>On the right, we see </a:t>
            </a:r>
            <a:r>
              <a:rPr lang="en-US" b="1" dirty="0"/>
              <a:t>senior positions</a:t>
            </a:r>
            <a:r>
              <a:rPr lang="en-US" dirty="0"/>
              <a:t>. Here the pattern flips: in AI-adopting firms, the solid blue line rises above the dashed one.</a:t>
            </a:r>
            <a:br>
              <a:rPr lang="en-US" dirty="0"/>
            </a:br>
            <a:r>
              <a:rPr lang="en-US" dirty="0"/>
              <a:t>That means firms using AI are </a:t>
            </a:r>
            <a:r>
              <a:rPr lang="en-US" b="1" dirty="0"/>
              <a:t>adding more senior workers</a:t>
            </a:r>
            <a:r>
              <a:rPr lang="en-US" dirty="0"/>
              <a:t> than firms that haven’t adopted it.</a:t>
            </a:r>
          </a:p>
          <a:p>
            <a:r>
              <a:rPr lang="en-US" dirty="0"/>
              <a:t>So the reallocation isn’t just across tasks — it’s across people.</a:t>
            </a:r>
            <a:br>
              <a:rPr lang="en-US" dirty="0"/>
            </a:br>
            <a:r>
              <a:rPr lang="en-US" dirty="0"/>
              <a:t>Within the same companies, AI appears to be </a:t>
            </a:r>
            <a:r>
              <a:rPr lang="en-US" b="1" dirty="0"/>
              <a:t>substituting for entry-level work</a:t>
            </a:r>
            <a:r>
              <a:rPr lang="en-US" dirty="0"/>
              <a:t> while </a:t>
            </a:r>
            <a:r>
              <a:rPr lang="en-US" b="1" dirty="0"/>
              <a:t>complementing experienced talent</a:t>
            </a:r>
            <a:r>
              <a:rPr lang="en-US" dirty="0"/>
              <a:t>.</a:t>
            </a:r>
          </a:p>
          <a:p>
            <a:r>
              <a:rPr lang="en-US" dirty="0"/>
              <a:t>In short, AI-adopting firms aren’t shrinking — they’re </a:t>
            </a:r>
            <a:r>
              <a:rPr lang="en-US" b="1" dirty="0"/>
              <a:t>skewing older and more experienced.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Reallocation is not just around tasks, it is also around people.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810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Main patterns</a:t>
            </a:r>
          </a:p>
          <a:p>
            <a:r>
              <a:rPr lang="en-US" b="1" dirty="0"/>
              <a:t>Across all sectors</a:t>
            </a:r>
            <a:r>
              <a:rPr lang="en-US" dirty="0"/>
              <a:t>, junior employment (red) shows large </a:t>
            </a:r>
            <a:r>
              <a:rPr lang="en-US" b="1" dirty="0"/>
              <a:t>declines</a:t>
            </a:r>
            <a:r>
              <a:rPr lang="en-US" dirty="0"/>
              <a:t>, typically between </a:t>
            </a:r>
            <a:r>
              <a:rPr lang="en-US" b="1" dirty="0"/>
              <a:t>–20% and –40%</a:t>
            </a:r>
            <a:r>
              <a:rPr lang="en-US" dirty="0"/>
              <a:t>.</a:t>
            </a:r>
          </a:p>
          <a:p>
            <a:r>
              <a:rPr lang="en-US" b="1" dirty="0"/>
              <a:t>Senior employment (blue)</a:t>
            </a:r>
            <a:r>
              <a:rPr lang="en-US" dirty="0"/>
              <a:t> is roughly </a:t>
            </a:r>
            <a:r>
              <a:rPr lang="en-US" b="1" dirty="0"/>
              <a:t>stable or positive</a:t>
            </a:r>
            <a:r>
              <a:rPr lang="en-US" dirty="0"/>
              <a:t>, even slightly </a:t>
            </a:r>
            <a:r>
              <a:rPr lang="en-US" b="1" dirty="0"/>
              <a:t>increasing</a:t>
            </a:r>
            <a:r>
              <a:rPr lang="en-US" dirty="0"/>
              <a:t> in some sectors (notably Healthcare and Education).</a:t>
            </a:r>
          </a:p>
          <a:p>
            <a:r>
              <a:rPr lang="en-US" dirty="0"/>
              <a:t>The </a:t>
            </a:r>
            <a:r>
              <a:rPr lang="en-US" b="1" dirty="0"/>
              <a:t>gap between red and blue markers</a:t>
            </a:r>
            <a:r>
              <a:rPr lang="en-US" dirty="0"/>
              <a:t> represents how </a:t>
            </a:r>
            <a:r>
              <a:rPr lang="en-US" i="1" dirty="0"/>
              <a:t>AI reweights the workforce composition</a:t>
            </a:r>
            <a:r>
              <a:rPr lang="en-US" dirty="0"/>
              <a:t> toward experience.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pattern confirms that the “junior squeeze” is </a:t>
            </a:r>
            <a:r>
              <a:rPr lang="en-US" b="1" dirty="0"/>
              <a:t>broad-based</a:t>
            </a:r>
            <a:r>
              <a:rPr lang="en-US" dirty="0"/>
              <a:t>, not confined to tech.</a:t>
            </a:r>
          </a:p>
          <a:p>
            <a:r>
              <a:rPr lang="en-US" dirty="0"/>
              <a:t>Even in traditionally human-intensive sectors (like healthcare, education), entry-level positions shrink while experienced workers’ roles remain intact or expand.</a:t>
            </a:r>
          </a:p>
          <a:p>
            <a:r>
              <a:rPr lang="en-US" dirty="0"/>
              <a:t>Suggests a </a:t>
            </a:r>
            <a:r>
              <a:rPr lang="en-US" b="1" dirty="0"/>
              <a:t>systematic, cross-sector shift</a:t>
            </a:r>
            <a:r>
              <a:rPr lang="en-US" dirty="0"/>
              <a:t> in how firms allocate human capital after AI adoption:</a:t>
            </a:r>
          </a:p>
          <a:p>
            <a:pPr lvl="1"/>
            <a:r>
              <a:rPr lang="en-US" dirty="0"/>
              <a:t>Juniors → more </a:t>
            </a:r>
            <a:r>
              <a:rPr lang="en-US" i="1" dirty="0"/>
              <a:t>substitutable</a:t>
            </a:r>
            <a:r>
              <a:rPr lang="en-US" dirty="0"/>
              <a:t> tasks.</a:t>
            </a:r>
          </a:p>
          <a:p>
            <a:pPr lvl="1"/>
            <a:r>
              <a:rPr lang="en-US" dirty="0"/>
              <a:t>Seniors → more </a:t>
            </a:r>
            <a:r>
              <a:rPr lang="en-US" i="1" dirty="0"/>
              <a:t>complementary</a:t>
            </a:r>
            <a:r>
              <a:rPr lang="en-US" dirty="0"/>
              <a:t> or supervisory tasks.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1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404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F45B-F11C-8A1C-42CD-D97421A2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235C5-0BA0-AAF6-C509-997E39F86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2FFCD-6F53-4CB7-E213-2EEA7D40E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F73DB-C05B-0018-9DF4-BC67EABE9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186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put all of this in perspective, we’ve been here before — many times.</a:t>
            </a:r>
          </a:p>
          <a:p>
            <a:r>
              <a:rPr lang="en-US" dirty="0"/>
              <a:t>Every major technological revolution has followed a similar arc.</a:t>
            </a:r>
            <a:br>
              <a:rPr lang="en-US" dirty="0"/>
            </a:br>
            <a:r>
              <a:rPr lang="en-US" dirty="0"/>
              <a:t>During the industrial era, mechanization replaced muscle; during the digital revolution, computers automated routine office work; and the internet transformed communication and information exchange.</a:t>
            </a:r>
          </a:p>
          <a:p>
            <a:r>
              <a:rPr lang="en-US" dirty="0"/>
              <a:t>The pattern is remarkably consistent: </a:t>
            </a:r>
            <a:r>
              <a:rPr lang="en-US" b="1" dirty="0"/>
              <a:t>productivity rises, tasks are redefined, and occupations are restructured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New technologies rarely eliminate work altogether — they reorganize it.</a:t>
            </a:r>
          </a:p>
          <a:p>
            <a:r>
              <a:rPr lang="en-US" dirty="0"/>
              <a:t>What’s different with AI is that, for the first time, the technology is reaching into </a:t>
            </a:r>
            <a:r>
              <a:rPr lang="en-US" b="1" dirty="0"/>
              <a:t>cognitive and creative</a:t>
            </a:r>
            <a:r>
              <a:rPr lang="en-US" dirty="0"/>
              <a:t> domains rather than physical ones.</a:t>
            </a:r>
            <a:br>
              <a:rPr lang="en-US" dirty="0"/>
            </a:br>
            <a:r>
              <a:rPr lang="en-US" dirty="0"/>
              <a:t>But in historical terms, this is still </a:t>
            </a:r>
            <a:r>
              <a:rPr lang="en-US" b="1" dirty="0"/>
              <a:t>a new chapter in a very long story of technological change</a:t>
            </a:r>
            <a:r>
              <a:rPr lang="en-US" dirty="0"/>
              <a:t> — one where society eventually adapts, even if the transition is uneven.</a:t>
            </a:r>
          </a:p>
          <a:p>
            <a:r>
              <a:rPr lang="en-US" dirty="0"/>
              <a:t>Understanding that continuity helps us separate temporary disruption from lasting transformation.”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067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B60C-28D0-AA48-38D7-AE7F77903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B5F25-99CF-4121-A65B-51D076440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35BB1-2700-C30A-326B-82EDB9AEB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to close, here are the three messages I hope you’ll take away today.</a:t>
            </a:r>
          </a:p>
          <a:p>
            <a:r>
              <a:rPr lang="en-US" b="1" dirty="0"/>
              <a:t>First,</a:t>
            </a:r>
            <a:r>
              <a:rPr lang="en-US" dirty="0"/>
              <a:t> technology doesn’t simply eliminate jobs — it reshapes them. Each wave of innovation replaces some tasks, creates others, and transforms the rest.</a:t>
            </a:r>
          </a:p>
          <a:p>
            <a:r>
              <a:rPr lang="en-US" b="1" dirty="0"/>
              <a:t>Second,</a:t>
            </a:r>
            <a:r>
              <a:rPr lang="en-US" dirty="0"/>
              <a:t> firms that adopt AI tend to grow faster — but the gains aren’t evenly distributed. Opportunities are shifting upward toward more experienced workers.</a:t>
            </a:r>
          </a:p>
          <a:p>
            <a:r>
              <a:rPr lang="en-US" b="1" dirty="0"/>
              <a:t>And third,</a:t>
            </a:r>
            <a:r>
              <a:rPr lang="en-US" dirty="0"/>
              <a:t> the real challenge ahead isn’t job loss; it’s rebuilding the </a:t>
            </a:r>
            <a:r>
              <a:rPr lang="en-US" i="1" dirty="0"/>
              <a:t>entry points</a:t>
            </a:r>
            <a:r>
              <a:rPr lang="en-US" dirty="0"/>
              <a:t> for the next generation — making sure that young people can still learn, grow, and contribute in an AI-driven economy.</a:t>
            </a:r>
          </a:p>
          <a:p>
            <a:r>
              <a:rPr lang="en-US" dirty="0"/>
              <a:t>That’s the future of work we need to design for.</a:t>
            </a:r>
          </a:p>
          <a:p>
            <a:endParaRPr lang="en-US" dirty="0"/>
          </a:p>
          <a:p>
            <a:r>
              <a:rPr lang="en-US" dirty="0"/>
              <a:t>Talk though:</a:t>
            </a:r>
          </a:p>
          <a:p>
            <a:pPr marL="228600" indent="-228600">
              <a:buAutoNum type="arabicPeriod"/>
            </a:pPr>
            <a:r>
              <a:rPr lang="en-US" dirty="0"/>
              <a:t>We always have to work</a:t>
            </a:r>
          </a:p>
          <a:p>
            <a:pPr marL="228600" indent="-228600">
              <a:buAutoNum type="arabicPeriod"/>
            </a:pPr>
            <a:r>
              <a:rPr lang="en-US" dirty="0"/>
              <a:t>If you were a CEO of a company,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52A68-A59E-7521-9399-7334B4D08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4BC3-679E-8247-BF6F-2D3FC2EDC9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0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69272-F628-ED92-5F50-DF79411D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0FB8-1BF2-014A-9CBC-258A119B7F6E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8AB15-49ED-FA25-39E0-6B37D28D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72D91-247F-7123-C2D8-BBE991C5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64697-3563-0144-8442-ABC5AD8D2C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BBB0E-C123-D274-A24B-EA4ABE1199CD}"/>
              </a:ext>
            </a:extLst>
          </p:cNvPr>
          <p:cNvSpPr/>
          <p:nvPr userDrawn="1"/>
        </p:nvSpPr>
        <p:spPr>
          <a:xfrm>
            <a:off x="0" y="0"/>
            <a:ext cx="12192000" cy="113546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3865"/>
              </a:gs>
              <a:gs pos="18000">
                <a:srgbClr val="F5F5F5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490E7F-9705-9EC0-757B-5AEC803E4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503487"/>
            <a:ext cx="10363200" cy="1006476"/>
          </a:xfrm>
          <a:solidFill>
            <a:schemeClr val="bg1"/>
          </a:solidFill>
        </p:spPr>
        <p:txBody>
          <a:bodyPr anchor="b">
            <a:normAutofit/>
          </a:bodyPr>
          <a:lstStyle>
            <a:lvl1pPr algn="l">
              <a:defRPr sz="3600">
                <a:solidFill>
                  <a:srgbClr val="00386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75C914-BFB1-FD5D-B073-F4D62ECC0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9649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EFB76-219B-E75B-171D-D533B4619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0A2DA-D7A4-D6FE-59D8-3B57CF7F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0FB8-1BF2-014A-9CBC-258A119B7F6E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F3D37-FD08-E5B0-E103-BF035036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CD050-E745-A6AE-F470-748BF060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64697-3563-0144-8442-ABC5AD8D2C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60897CB-2FC9-8F14-2395-EF964D99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71643"/>
            <a:ext cx="12191999" cy="872495"/>
          </a:xfrm>
        </p:spPr>
        <p:txBody>
          <a:bodyPr lIns="457200">
            <a:normAutofit/>
          </a:bodyPr>
          <a:lstStyle>
            <a:lvl1pPr>
              <a:defRPr sz="3800">
                <a:solidFill>
                  <a:srgbClr val="0038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978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81500-6C48-0439-C222-14D26640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0FB8-1BF2-014A-9CBC-258A119B7F6E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5C899-4011-6B5C-0638-2624C95D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E0614-D6AE-DEEC-3660-01D9C1AA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64697-3563-0144-8442-ABC5AD8D2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3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03487"/>
            <a:ext cx="10363200" cy="1006476"/>
          </a:xfrm>
          <a:solidFill>
            <a:schemeClr val="bg1"/>
          </a:solidFill>
        </p:spPr>
        <p:txBody>
          <a:bodyPr anchor="b">
            <a:normAutofit/>
          </a:bodyPr>
          <a:lstStyle>
            <a:lvl1pPr algn="l">
              <a:defRPr sz="3600">
                <a:solidFill>
                  <a:srgbClr val="00386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DBCFA-65AF-574B-8703-9EE8774CD38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C22C-4CC4-0E4A-A70F-011D7F47865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C0C14D-EDC7-C745-E73B-22F1737FFC03}"/>
              </a:ext>
            </a:extLst>
          </p:cNvPr>
          <p:cNvSpPr/>
          <p:nvPr userDrawn="1"/>
        </p:nvSpPr>
        <p:spPr>
          <a:xfrm>
            <a:off x="0" y="0"/>
            <a:ext cx="12192000" cy="113546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3865"/>
              </a:gs>
              <a:gs pos="18000">
                <a:srgbClr val="F5F5F5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5246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766219"/>
            <a:ext cx="12192000" cy="1325563"/>
          </a:xfrm>
        </p:spPr>
        <p:txBody>
          <a:bodyPr>
            <a:normAutofit/>
          </a:bodyPr>
          <a:lstStyle>
            <a:lvl1pPr algn="ctr">
              <a:defRPr sz="3200" i="0">
                <a:solidFill>
                  <a:srgbClr val="0038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A section title page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DBCFA-65AF-574B-8703-9EE8774CD38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C22C-4CC4-0E4A-A70F-011D7F478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8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A4B9E-489F-EBC7-86C7-AB3A2F7E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FA94E-6538-09E1-F377-7B44A39BB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5AAC9-BA53-1A02-F3CA-42749DA1E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B0FB8-1BF2-014A-9CBC-258A119B7F6E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20AAE-E517-E724-8F7E-F24A01973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00EC9-82E7-C16B-80E0-01420E8EE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64697-3563-0144-8442-ABC5AD8D2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4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8A56-AA52-20AB-19DF-1B996FEFD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54799"/>
            <a:ext cx="12192000" cy="1632412"/>
          </a:xfrm>
        </p:spPr>
        <p:txBody>
          <a:bodyPr>
            <a:normAutofit/>
          </a:bodyPr>
          <a:lstStyle/>
          <a:p>
            <a:pPr algn="ctr"/>
            <a:r>
              <a:rPr lang="en-US" sz="5800" dirty="0"/>
              <a:t>AI and the Future of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0F6A8-666E-89FE-84F1-C709EBD3B1F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951528"/>
            <a:ext cx="12192000" cy="2387599"/>
          </a:xfrm>
        </p:spPr>
        <p:txBody>
          <a:bodyPr>
            <a:normAutofit fontScale="77500" lnSpcReduction="20000"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October 2025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Case Western Reserve University</a:t>
            </a:r>
          </a:p>
          <a:p>
            <a:pPr marL="0" indent="0" algn="ctr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Weatherhead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Management</a:t>
            </a:r>
          </a:p>
          <a:p>
            <a:pPr marL="0" indent="0" algn="ctr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Sining Wang. PhD</a:t>
            </a:r>
          </a:p>
        </p:txBody>
      </p:sp>
    </p:spTree>
    <p:extLst>
      <p:ext uri="{BB962C8B-B14F-4D97-AF65-F5344CB8AC3E}">
        <p14:creationId xmlns:p14="http://schemas.microsoft.com/office/powerpoint/2010/main" val="152169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4EE70-5965-D67F-E0B1-B19F6073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81CB-5932-2DDC-F0A0-02844126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4826"/>
            <a:ext cx="12192000" cy="1325563"/>
          </a:xfrm>
        </p:spPr>
        <p:txBody>
          <a:bodyPr/>
          <a:lstStyle/>
          <a:p>
            <a:r>
              <a:rPr lang="en-US" dirty="0"/>
              <a:t>Timeless Fear: Will Technology Take Our Jobs?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680B3-F605-FA2C-981C-557374F8C5DA}"/>
              </a:ext>
            </a:extLst>
          </p:cNvPr>
          <p:cNvSpPr txBox="1"/>
          <p:nvPr/>
        </p:nvSpPr>
        <p:spPr>
          <a:xfrm>
            <a:off x="1399309" y="3631662"/>
            <a:ext cx="9393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Industrial Revolution – Machines replacing artisans (1800s)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B5EAE-AF8A-A4C5-921D-FBF01F55379A}"/>
              </a:ext>
            </a:extLst>
          </p:cNvPr>
          <p:cNvSpPr txBox="1"/>
          <p:nvPr/>
        </p:nvSpPr>
        <p:spPr>
          <a:xfrm>
            <a:off x="1399309" y="4229732"/>
            <a:ext cx="104962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Industrial Revolution – Mass production powered by electricity (1900s)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B8513-EDEA-422E-2F36-DE947FC8A05A}"/>
              </a:ext>
            </a:extLst>
          </p:cNvPr>
          <p:cNvSpPr txBox="1"/>
          <p:nvPr/>
        </p:nvSpPr>
        <p:spPr>
          <a:xfrm>
            <a:off x="1399309" y="4827802"/>
            <a:ext cx="9393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Industrial Revolution – Automation powered by computer (1960s)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D4506-7D90-7163-21CD-145DA460FB14}"/>
              </a:ext>
            </a:extLst>
          </p:cNvPr>
          <p:cNvSpPr txBox="1"/>
          <p:nvPr/>
        </p:nvSpPr>
        <p:spPr>
          <a:xfrm>
            <a:off x="1399309" y="5425872"/>
            <a:ext cx="9393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Fourth Industrial Revolution – Connectivity powered by internet (1990s)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206492-F758-83CB-6DD7-6A4C34783DEA}"/>
              </a:ext>
            </a:extLst>
          </p:cNvPr>
          <p:cNvSpPr txBox="1"/>
          <p:nvPr/>
        </p:nvSpPr>
        <p:spPr>
          <a:xfrm>
            <a:off x="1399309" y="6023942"/>
            <a:ext cx="9393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Now?</a:t>
            </a:r>
          </a:p>
        </p:txBody>
      </p:sp>
    </p:spTree>
    <p:extLst>
      <p:ext uri="{BB962C8B-B14F-4D97-AF65-F5344CB8AC3E}">
        <p14:creationId xmlns:p14="http://schemas.microsoft.com/office/powerpoint/2010/main" val="272631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8E87-74BE-61C3-48C2-EB6603C2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9194"/>
            <a:ext cx="12192000" cy="1325563"/>
          </a:xfrm>
        </p:spPr>
        <p:txBody>
          <a:bodyPr>
            <a:noAutofit/>
          </a:bodyPr>
          <a:lstStyle/>
          <a:p>
            <a:r>
              <a:rPr lang="en-US" dirty="0"/>
              <a:t>AI Feels Different—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But Data Tells a More Nuanced 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3A9A7-E037-53AB-A451-D1A4328B5D01}"/>
              </a:ext>
            </a:extLst>
          </p:cNvPr>
          <p:cNvSpPr txBox="1"/>
          <p:nvPr/>
        </p:nvSpPr>
        <p:spPr>
          <a:xfrm>
            <a:off x="1167639" y="5138927"/>
            <a:ext cx="1914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is everywhere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4066FC-BE74-2F81-D9FD-EC271D4BE3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10447" y="3216009"/>
            <a:ext cx="1724294" cy="1724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8FB99A-C4E9-197B-2DC4-78409EC94A4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98472" y="3216009"/>
            <a:ext cx="1724294" cy="1724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2E9095-F69E-3F12-47DF-BC2FC4F518D5}"/>
              </a:ext>
            </a:extLst>
          </p:cNvPr>
          <p:cNvSpPr txBox="1"/>
          <p:nvPr/>
        </p:nvSpPr>
        <p:spPr>
          <a:xfrm>
            <a:off x="3268487" y="5143850"/>
            <a:ext cx="2626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changes what we do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A660DA-092D-B495-31D7-7D38FB61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34321" y="3369840"/>
            <a:ext cx="1574244" cy="1574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FE8714-CF06-9A52-65B2-0BC654AB224C}"/>
              </a:ext>
            </a:extLst>
          </p:cNvPr>
          <p:cNvSpPr txBox="1"/>
          <p:nvPr/>
        </p:nvSpPr>
        <p:spPr>
          <a:xfrm>
            <a:off x="6081502" y="5138927"/>
            <a:ext cx="2477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firms grow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E812B7-EFFE-E2F3-28C5-DDE99DFBCF9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49214" y="3216009"/>
            <a:ext cx="1787235" cy="17872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391543-5FBB-BF38-DE37-780C692509D2}"/>
              </a:ext>
            </a:extLst>
          </p:cNvPr>
          <p:cNvSpPr txBox="1"/>
          <p:nvPr/>
        </p:nvSpPr>
        <p:spPr>
          <a:xfrm>
            <a:off x="8363326" y="5138927"/>
            <a:ext cx="3243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reshapes opportunities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62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D3679-1469-A683-CBA9-41D71D07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AI Reallocates Tasks More than It Eliminates Jobs</a:t>
            </a:r>
          </a:p>
        </p:txBody>
      </p:sp>
    </p:spTree>
    <p:extLst>
      <p:ext uri="{BB962C8B-B14F-4D97-AF65-F5344CB8AC3E}">
        <p14:creationId xmlns:p14="http://schemas.microsoft.com/office/powerpoint/2010/main" val="324585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9A3A-7479-1546-402F-A4C675E71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 Has Been Widely Adopted (2014 — 2023)</a:t>
            </a:r>
          </a:p>
        </p:txBody>
      </p:sp>
      <p:pic>
        <p:nvPicPr>
          <p:cNvPr id="8" name="Picture 7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1E9BB373-9DF9-4AFB-DA46-D9EBE799A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85" y="1473959"/>
            <a:ext cx="11639918" cy="48586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8DD85C-79A0-691B-F3C1-81453F10D2AB}"/>
              </a:ext>
            </a:extLst>
          </p:cNvPr>
          <p:cNvSpPr txBox="1"/>
          <p:nvPr/>
        </p:nvSpPr>
        <p:spPr>
          <a:xfrm>
            <a:off x="802106" y="6492875"/>
            <a:ext cx="5122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altLang="en-US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Hampole</a:t>
            </a: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et al (2025). Artificial Intelligence and the Labor Market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A9A9B8-F097-6917-6139-A1B5C1F0A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199"/>
              </p:ext>
            </p:extLst>
          </p:nvPr>
        </p:nvGraphicFramePr>
        <p:xfrm>
          <a:off x="6525490" y="1786584"/>
          <a:ext cx="3311238" cy="14833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673928">
                  <a:extLst>
                    <a:ext uri="{9D8B030D-6E8A-4147-A177-3AD203B41FA5}">
                      <a16:colId xmlns:a16="http://schemas.microsoft.com/office/drawing/2014/main" val="1012288084"/>
                    </a:ext>
                  </a:extLst>
                </a:gridCol>
                <a:gridCol w="637310">
                  <a:extLst>
                    <a:ext uri="{9D8B030D-6E8A-4147-A177-3AD203B41FA5}">
                      <a16:colId xmlns:a16="http://schemas.microsoft.com/office/drawing/2014/main" val="2165832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2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Professional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3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Finance and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162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Across 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469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37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BACE78-E513-F0F7-D234-2CF4A329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our audience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39ECA6-5D45-3D93-AFA9-5E30F4017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69" y="1692052"/>
            <a:ext cx="10829694" cy="5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Overall, what do you think is the main impact of AI on jobs today?</a:t>
            </a:r>
          </a:p>
        </p:txBody>
      </p:sp>
      <p:pic>
        <p:nvPicPr>
          <p:cNvPr id="12" name="Picture 11" descr="A screenshot of a chat&#10;&#10;AI-generated content may be incorrect.">
            <a:extLst>
              <a:ext uri="{FF2B5EF4-FFF2-40B4-BE49-F238E27FC236}">
                <a16:creationId xmlns:a16="http://schemas.microsoft.com/office/drawing/2014/main" id="{D1DEE72C-3DAC-64AC-A65B-7C6A812FD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16" y="2264735"/>
            <a:ext cx="57531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6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8C3B-986C-CC13-00DF-0D1AC307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0FDFE8-ED6A-D2D5-0340-0B0AFCDD0607}"/>
              </a:ext>
            </a:extLst>
          </p:cNvPr>
          <p:cNvSpPr/>
          <p:nvPr/>
        </p:nvSpPr>
        <p:spPr>
          <a:xfrm>
            <a:off x="134814" y="1447766"/>
            <a:ext cx="5879123" cy="51757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FADAD6-0D5B-C299-C9C4-260524D5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 “Job” looks like?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2AF668-D7EB-E5D4-7CF8-892E2D05F23A}"/>
              </a:ext>
            </a:extLst>
          </p:cNvPr>
          <p:cNvSpPr/>
          <p:nvPr/>
        </p:nvSpPr>
        <p:spPr>
          <a:xfrm>
            <a:off x="6219091" y="1447766"/>
            <a:ext cx="5879123" cy="51757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F6B8705-9989-24F2-D301-74777F0B566D}"/>
              </a:ext>
            </a:extLst>
          </p:cNvPr>
          <p:cNvSpPr txBox="1">
            <a:spLocks/>
          </p:cNvSpPr>
          <p:nvPr/>
        </p:nvSpPr>
        <p:spPr>
          <a:xfrm>
            <a:off x="6688016" y="172011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Security Analyst (2025)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Responsibilities: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Monitor consolidated security dashboards and review automated alerts.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Investigate flagged anomalies and prepare incident summaries.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Coordinate with IT teams to apply patches and mitigations.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Participate in quarterly threat-assessment reviews.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Identify emerging threat patterns and propose detection improvements.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E3195671-D5A1-455E-7C8E-6F0EF77D7C0F}"/>
              </a:ext>
            </a:extLst>
          </p:cNvPr>
          <p:cNvSpPr txBox="1">
            <a:spLocks/>
          </p:cNvSpPr>
          <p:nvPr/>
        </p:nvSpPr>
        <p:spPr>
          <a:xfrm>
            <a:off x="638908" y="172011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Security Analyst (2020)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Responsibilities: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Monitor consolidated security dashboards and review automated alerts.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Investigate flagged anomalies and prepare incident summaries.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Coordinate with IT teams to apply patches and mitigations.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Maintain incident records and report recurring issues.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Participate in quarterly threat-assessment reviews.</a:t>
            </a:r>
          </a:p>
        </p:txBody>
      </p:sp>
    </p:spTree>
    <p:extLst>
      <p:ext uri="{BB962C8B-B14F-4D97-AF65-F5344CB8AC3E}">
        <p14:creationId xmlns:p14="http://schemas.microsoft.com/office/powerpoint/2010/main" val="6690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3AAA9-EFA3-0829-1A5C-F919D752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2DDF6D3-16A1-C6C1-83C2-D99FE2B43225}"/>
              </a:ext>
            </a:extLst>
          </p:cNvPr>
          <p:cNvSpPr/>
          <p:nvPr/>
        </p:nvSpPr>
        <p:spPr>
          <a:xfrm>
            <a:off x="134814" y="1447766"/>
            <a:ext cx="5879123" cy="51757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BED0F3-8DFB-DB7B-00A9-EEC5BA04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Job Disappeared?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885C12-6634-DD60-2280-C8A4C1CD8D66}"/>
              </a:ext>
            </a:extLst>
          </p:cNvPr>
          <p:cNvSpPr/>
          <p:nvPr/>
        </p:nvSpPr>
        <p:spPr>
          <a:xfrm>
            <a:off x="6219091" y="1447766"/>
            <a:ext cx="5879123" cy="51757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B5EC103-E542-4F9C-BBEA-491AB9DF20F3}"/>
              </a:ext>
            </a:extLst>
          </p:cNvPr>
          <p:cNvSpPr txBox="1">
            <a:spLocks/>
          </p:cNvSpPr>
          <p:nvPr/>
        </p:nvSpPr>
        <p:spPr>
          <a:xfrm>
            <a:off x="6688016" y="172011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Security Analyst (2025)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Responsibilities: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consolidated security dashboards and review automated alerts. 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 flagged anomalies and prepare incident summaries. 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Coordinate with IT teams to apply patches and mitigations. 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Participate in quarterly threat-assessment reviews.</a:t>
            </a:r>
          </a:p>
          <a:p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emerging threat patterns and propose detection improvements</a:t>
            </a:r>
            <a:r>
              <a:rPr lang="en-US" sz="19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9B77EC09-196C-DFB3-3D05-79735737CF31}"/>
              </a:ext>
            </a:extLst>
          </p:cNvPr>
          <p:cNvSpPr txBox="1">
            <a:spLocks/>
          </p:cNvSpPr>
          <p:nvPr/>
        </p:nvSpPr>
        <p:spPr>
          <a:xfrm>
            <a:off x="638908" y="172011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Security Analyst (2020)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Responsibilities: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consolidated security dashboards and review automated alerts. 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 flagged anomalies and prepare incident summaries. 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Coordinate with IT teams to apply patches and mitigations. </a:t>
            </a:r>
          </a:p>
          <a:p>
            <a:r>
              <a:rPr lang="en-US" sz="1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incident records and report recurring issues. </a:t>
            </a:r>
          </a:p>
          <a:p>
            <a:r>
              <a:rPr lang="en-US" sz="19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Participate in quarterly threat-assessment reviews.</a:t>
            </a:r>
          </a:p>
        </p:txBody>
      </p:sp>
    </p:spTree>
    <p:extLst>
      <p:ext uri="{BB962C8B-B14F-4D97-AF65-F5344CB8AC3E}">
        <p14:creationId xmlns:p14="http://schemas.microsoft.com/office/powerpoint/2010/main" val="1826309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F3B3-3637-887C-E58A-501A62D7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Tasks vs.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4D22D-EB48-FA25-0201-D7247BCD6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70C0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job (occupation)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made up of many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— the concrete things workers do (e.g., “analyze data,” “meet clients,” “prepare reports”, “coordinate with other”).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70C0"/>
              </a:buClr>
            </a:pPr>
            <a:r>
              <a:rPr lang="en-US" sz="24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Job-level exposure</a:t>
            </a:r>
            <a:r>
              <a:rPr lang="en-US" sz="24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treats the entire occupation as one unit — it says, “this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exposed to AI or not.”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70C0"/>
              </a:buClr>
            </a:pP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Task-level exposure</a:t>
            </a:r>
            <a:r>
              <a:rPr lang="en-U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looks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job to see which specific tasks are affected by AI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1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82BF-DEF9-7B1F-BE13-E0078899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EFA1-D1F0-B39C-16A9-F1608ABB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Task-level AI exposure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168559-BB65-8CDD-E6D0-8BF6B6DA26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646" y="2300332"/>
            <a:ext cx="1065870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Hampole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et al (2025). Artificial Intelligence and the Labor Market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work analyzed about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58 million résumés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14 million job postings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U.S. companies between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2010 and 2023 and extract tasks from those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each task, they measure  how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exposed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it was to AI —how similar the task was to what AI systems were being trained to do.</a:t>
            </a:r>
          </a:p>
        </p:txBody>
      </p:sp>
    </p:spTree>
    <p:extLst>
      <p:ext uri="{BB962C8B-B14F-4D97-AF65-F5344CB8AC3E}">
        <p14:creationId xmlns:p14="http://schemas.microsoft.com/office/powerpoint/2010/main" val="4041983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7E75-2ED3-1285-A9C0-66651174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Tasks, Jobs, and AI Use Cases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7E831E-F21B-39B8-5989-CE30FE9E1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92" y="1690688"/>
            <a:ext cx="11468138" cy="36643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B6538B-C56D-E3D3-C1F3-2E849CE83014}"/>
              </a:ext>
            </a:extLst>
          </p:cNvPr>
          <p:cNvSpPr txBox="1"/>
          <p:nvPr/>
        </p:nvSpPr>
        <p:spPr>
          <a:xfrm>
            <a:off x="838200" y="5863503"/>
            <a:ext cx="5122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altLang="en-US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Hampole</a:t>
            </a: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et al (2025). Artificial Intelligence and the Labor Market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BD18C-6794-055E-036E-2766B0BBF5A9}"/>
              </a:ext>
            </a:extLst>
          </p:cNvPr>
          <p:cNvSpPr/>
          <p:nvPr/>
        </p:nvSpPr>
        <p:spPr>
          <a:xfrm>
            <a:off x="3031692" y="2211572"/>
            <a:ext cx="5995350" cy="754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2EE4BC-5633-9452-03E9-3F521D0A6E7B}"/>
              </a:ext>
            </a:extLst>
          </p:cNvPr>
          <p:cNvSpPr/>
          <p:nvPr/>
        </p:nvSpPr>
        <p:spPr>
          <a:xfrm>
            <a:off x="3031691" y="4550735"/>
            <a:ext cx="5995349" cy="28708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4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F70D9E-EA8A-DB82-B043-E3F5B6BE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AI-exposed Tasks Quietly Vanish From Job Postings</a:t>
            </a:r>
          </a:p>
        </p:txBody>
      </p:sp>
      <p:pic>
        <p:nvPicPr>
          <p:cNvPr id="9" name="Picture 8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BAEC2914-8FED-C359-A788-D20E7B774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13" y="2798618"/>
            <a:ext cx="6866890" cy="33555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E0536F-B1ED-2D66-CCDF-26368A4A9423}"/>
              </a:ext>
            </a:extLst>
          </p:cNvPr>
          <p:cNvSpPr txBox="1"/>
          <p:nvPr/>
        </p:nvSpPr>
        <p:spPr>
          <a:xfrm>
            <a:off x="360218" y="1977166"/>
            <a:ext cx="457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 Variable: 5-Year change in how frequently a skill appears in job postings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89B64-616C-8654-970E-75DA1F7C74F8}"/>
              </a:ext>
            </a:extLst>
          </p:cNvPr>
          <p:cNvSpPr/>
          <p:nvPr/>
        </p:nvSpPr>
        <p:spPr>
          <a:xfrm>
            <a:off x="360217" y="3244272"/>
            <a:ext cx="6580909" cy="5934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59614-137B-A8AE-1B57-7924278B0EE1}"/>
              </a:ext>
            </a:extLst>
          </p:cNvPr>
          <p:cNvSpPr txBox="1"/>
          <p:nvPr/>
        </p:nvSpPr>
        <p:spPr>
          <a:xfrm>
            <a:off x="102631" y="6231265"/>
            <a:ext cx="5122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altLang="en-US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Hampole</a:t>
            </a: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et al (2025). Artificial Intelligence and the Labor Market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6F106-E12F-D091-FBF5-32CCAFBEBC10}"/>
              </a:ext>
            </a:extLst>
          </p:cNvPr>
          <p:cNvSpPr txBox="1"/>
          <p:nvPr/>
        </p:nvSpPr>
        <p:spPr>
          <a:xfrm>
            <a:off x="7322128" y="2175097"/>
            <a:ext cx="45096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Tasks highly exposed to AI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decreased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job posting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1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SD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increase in AI exposure reduce task demand by ~2%</a:t>
            </a:r>
          </a:p>
        </p:txBody>
      </p:sp>
    </p:spTree>
    <p:extLst>
      <p:ext uri="{BB962C8B-B14F-4D97-AF65-F5344CB8AC3E}">
        <p14:creationId xmlns:p14="http://schemas.microsoft.com/office/powerpoint/2010/main" val="293375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white sheet with numbers and letters&#10;&#10;AI-generated content may be incorrect.">
            <a:extLst>
              <a:ext uri="{FF2B5EF4-FFF2-40B4-BE49-F238E27FC236}">
                <a16:creationId xmlns:a16="http://schemas.microsoft.com/office/drawing/2014/main" id="{32D4392F-9AA7-5633-E075-B65EF7E31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3059" y="2202700"/>
            <a:ext cx="6336815" cy="340977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F78F95-F8EA-560B-1E12-34EE92DD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 Adoption Promote Employment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E2829F-8D7D-992D-6329-9F6A58ACCE96}"/>
              </a:ext>
            </a:extLst>
          </p:cNvPr>
          <p:cNvSpPr/>
          <p:nvPr/>
        </p:nvSpPr>
        <p:spPr>
          <a:xfrm>
            <a:off x="2098033" y="3098862"/>
            <a:ext cx="4602539" cy="323450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DB61EA-E740-9ADD-EAD6-20DB5618FEA9}"/>
              </a:ext>
            </a:extLst>
          </p:cNvPr>
          <p:cNvSpPr/>
          <p:nvPr/>
        </p:nvSpPr>
        <p:spPr>
          <a:xfrm>
            <a:off x="2098032" y="3478758"/>
            <a:ext cx="4602539" cy="361970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F85C25-31E0-51A1-1161-AB37F7228EBB}"/>
              </a:ext>
            </a:extLst>
          </p:cNvPr>
          <p:cNvSpPr/>
          <p:nvPr/>
        </p:nvSpPr>
        <p:spPr>
          <a:xfrm>
            <a:off x="2098033" y="2721973"/>
            <a:ext cx="4602539" cy="3121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75674-9CF2-9424-C916-9848D6378419}"/>
              </a:ext>
            </a:extLst>
          </p:cNvPr>
          <p:cNvSpPr/>
          <p:nvPr/>
        </p:nvSpPr>
        <p:spPr>
          <a:xfrm>
            <a:off x="358408" y="2702767"/>
            <a:ext cx="1734276" cy="292795"/>
          </a:xfrm>
          <a:prstGeom prst="rect">
            <a:avLst/>
          </a:prstGeom>
          <a:solidFill>
            <a:srgbClr val="FF0000">
              <a:alpha val="36863"/>
            </a:srgbClr>
          </a:solidFill>
          <a:ln w="603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EE5A3-1017-791A-F3FA-869158520374}"/>
              </a:ext>
            </a:extLst>
          </p:cNvPr>
          <p:cNvSpPr/>
          <p:nvPr/>
        </p:nvSpPr>
        <p:spPr>
          <a:xfrm>
            <a:off x="358408" y="3049325"/>
            <a:ext cx="1734276" cy="361970"/>
          </a:xfrm>
          <a:prstGeom prst="rect">
            <a:avLst/>
          </a:prstGeom>
          <a:solidFill>
            <a:schemeClr val="accent6">
              <a:lumMod val="20000"/>
              <a:lumOff val="80000"/>
              <a:alpha val="36863"/>
            </a:schemeClr>
          </a:solidFill>
          <a:ln w="603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75D5EE-0462-7095-77BA-C07BE6207EA0}"/>
              </a:ext>
            </a:extLst>
          </p:cNvPr>
          <p:cNvSpPr/>
          <p:nvPr/>
        </p:nvSpPr>
        <p:spPr>
          <a:xfrm>
            <a:off x="358407" y="3449924"/>
            <a:ext cx="1734277" cy="361970"/>
          </a:xfrm>
          <a:prstGeom prst="rect">
            <a:avLst/>
          </a:prstGeom>
          <a:solidFill>
            <a:schemeClr val="accent6">
              <a:lumMod val="20000"/>
              <a:lumOff val="80000"/>
              <a:alpha val="36863"/>
            </a:schemeClr>
          </a:solidFill>
          <a:ln w="603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E8A68-3E4F-AC0B-DAC6-DCEDF7F0E98E}"/>
              </a:ext>
            </a:extLst>
          </p:cNvPr>
          <p:cNvSpPr txBox="1"/>
          <p:nvPr/>
        </p:nvSpPr>
        <p:spPr>
          <a:xfrm>
            <a:off x="353058" y="5639154"/>
            <a:ext cx="5122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altLang="en-US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Hampole</a:t>
            </a: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et al (2025). Artificial Intelligence and the Labor Market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00A91-EE75-A37B-BCD1-D6ADAA432BB2}"/>
              </a:ext>
            </a:extLst>
          </p:cNvPr>
          <p:cNvSpPr txBox="1"/>
          <p:nvPr/>
        </p:nvSpPr>
        <p:spPr>
          <a:xfrm>
            <a:off x="7111514" y="1821759"/>
            <a:ext cx="496094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AI-exposed Jobs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Occupations that have many tasks exposed to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AI-Augmenting Jobs: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Occupations that have some tasks being affected, and some tasks unaffected by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AI-exposed jobs: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8% --15%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fewer opportunities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AI-Augmenting jobs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7% -- 10% </a:t>
            </a: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opportunities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29D727-E13F-F780-900E-197C15310E9F}"/>
              </a:ext>
            </a:extLst>
          </p:cNvPr>
          <p:cNvSpPr txBox="1"/>
          <p:nvPr/>
        </p:nvSpPr>
        <p:spPr>
          <a:xfrm>
            <a:off x="353058" y="1874811"/>
            <a:ext cx="530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Employment Opportunity on Firm-Occupation Level</a:t>
            </a:r>
          </a:p>
        </p:txBody>
      </p:sp>
    </p:spTree>
    <p:extLst>
      <p:ext uri="{BB962C8B-B14F-4D97-AF65-F5344CB8AC3E}">
        <p14:creationId xmlns:p14="http://schemas.microsoft.com/office/powerpoint/2010/main" val="421760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39E8548-F0A3-5180-50A7-B7E6794D6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3861" y="2857174"/>
            <a:ext cx="6251442" cy="254866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F58B88-BCF0-5A67-2FDE-19796054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 Adoption Promote Firm Growth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2E110-D619-30FD-406F-340FC28CE37C}"/>
              </a:ext>
            </a:extLst>
          </p:cNvPr>
          <p:cNvSpPr txBox="1"/>
          <p:nvPr/>
        </p:nvSpPr>
        <p:spPr>
          <a:xfrm>
            <a:off x="273861" y="2467283"/>
            <a:ext cx="5827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 Variable: 5-Year Growth Rate on Firm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D92FF-9EC5-74FC-BF0A-886313ED7605}"/>
              </a:ext>
            </a:extLst>
          </p:cNvPr>
          <p:cNvSpPr/>
          <p:nvPr/>
        </p:nvSpPr>
        <p:spPr>
          <a:xfrm>
            <a:off x="273861" y="3700619"/>
            <a:ext cx="6251442" cy="430888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64AE4-951C-1717-F033-7F38AD2DE1CC}"/>
              </a:ext>
            </a:extLst>
          </p:cNvPr>
          <p:cNvSpPr txBox="1"/>
          <p:nvPr/>
        </p:nvSpPr>
        <p:spPr>
          <a:xfrm>
            <a:off x="408710" y="5405839"/>
            <a:ext cx="5122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altLang="en-US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Hampole</a:t>
            </a: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et al (2025). Artificial Intelligence and the Labor 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5843B-5F9E-16B4-C6F5-0844B905EB77}"/>
              </a:ext>
            </a:extLst>
          </p:cNvPr>
          <p:cNvSpPr txBox="1"/>
          <p:nvPr/>
        </p:nvSpPr>
        <p:spPr>
          <a:xfrm>
            <a:off x="6996545" y="2175097"/>
            <a:ext cx="5122762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Firms that adopt AI grow </a:t>
            </a:r>
            <a:r>
              <a:rPr lang="en-US" sz="2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about 5.6% ~ 9.7%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Employment</a:t>
            </a:r>
            <a:r>
              <a:rPr lang="en-US" sz="2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increase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4% ~ 7%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Profit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6% ~ 8%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5% ~ 7%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2DA42-5C19-6EAD-DCDD-32AE575DFC18}"/>
              </a:ext>
            </a:extLst>
          </p:cNvPr>
          <p:cNvSpPr txBox="1"/>
          <p:nvPr/>
        </p:nvSpPr>
        <p:spPr>
          <a:xfrm>
            <a:off x="408710" y="1229023"/>
            <a:ext cx="10093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Higher Sales, Higher Profits, More Employment, More Productive</a:t>
            </a:r>
          </a:p>
        </p:txBody>
      </p:sp>
    </p:spTree>
    <p:extLst>
      <p:ext uri="{BB962C8B-B14F-4D97-AF65-F5344CB8AC3E}">
        <p14:creationId xmlns:p14="http://schemas.microsoft.com/office/powerpoint/2010/main" val="2778472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9237-5824-4621-AEB1-5793688A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 Reallocates Tasks More than It Eliminates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6576-6AAD-C4C0-D4D4-CFED4F885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sz="2600" dirty="0">
                <a:solidFill>
                  <a:schemeClr val="tx2"/>
                </a:solidFill>
              </a:rPr>
              <a:t>AI </a:t>
            </a:r>
            <a:r>
              <a:rPr lang="en-US" sz="2600" i="1" dirty="0">
                <a:solidFill>
                  <a:schemeClr val="tx2"/>
                </a:solidFill>
              </a:rPr>
              <a:t>does</a:t>
            </a:r>
            <a:r>
              <a:rPr lang="en-US" sz="2600" dirty="0">
                <a:solidFill>
                  <a:schemeClr val="tx2"/>
                </a:solidFill>
              </a:rPr>
              <a:t> replace certain tasks.</a:t>
            </a:r>
            <a:br>
              <a:rPr lang="en-US" sz="2600" dirty="0">
                <a:solidFill>
                  <a:schemeClr val="tx2"/>
                </a:solidFill>
              </a:rPr>
            </a:br>
            <a:r>
              <a:rPr lang="en-US" sz="2200" dirty="0">
                <a:solidFill>
                  <a:schemeClr val="tx2"/>
                </a:solidFill>
              </a:rPr>
              <a:t>The data show a clear drop in demand for repetitive or codifiable </a:t>
            </a:r>
            <a:r>
              <a:rPr lang="en-US" sz="2200" b="1" dirty="0">
                <a:solidFill>
                  <a:schemeClr val="tx2"/>
                </a:solidFill>
              </a:rPr>
              <a:t>tasks</a:t>
            </a:r>
            <a:r>
              <a:rPr lang="en-US" sz="2200" dirty="0">
                <a:solidFill>
                  <a:schemeClr val="tx2"/>
                </a:solidFill>
              </a:rPr>
              <a:t>.</a:t>
            </a:r>
            <a:endParaRPr lang="en-US" altLang="en-US" sz="22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</a:pPr>
            <a:endParaRPr lang="en-US" altLang="en-US" sz="22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  <a:t>Task-level</a:t>
            </a:r>
            <a:r>
              <a:rPr lang="en-US" altLang="en-US" sz="2600" b="1" dirty="0">
                <a:solidFill>
                  <a:schemeClr val="tx2"/>
                </a:solidFill>
                <a:latin typeface="Arial" panose="020B0604020202020204" pitchFamily="34" charset="0"/>
              </a:rPr>
              <a:t> substitution </a:t>
            </a:r>
            <a: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  <a:t>is strong</a:t>
            </a:r>
            <a:b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2"/>
                </a:solidFill>
                <a:latin typeface="Arial" panose="020B0604020202020204" pitchFamily="34" charset="0"/>
              </a:rPr>
              <a:t>People reallocate their time on tasks that are not affected by AI (</a:t>
            </a:r>
            <a:r>
              <a:rPr lang="en-US" altLang="en-US" sz="2200" b="1" dirty="0">
                <a:solidFill>
                  <a:schemeClr val="accent6"/>
                </a:solidFill>
                <a:latin typeface="Arial" panose="020B0604020202020204" pitchFamily="34" charset="0"/>
              </a:rPr>
              <a:t>task reallocation</a:t>
            </a:r>
            <a:r>
              <a:rPr lang="en-US" altLang="en-US" sz="2200" dirty="0">
                <a:solidFill>
                  <a:schemeClr val="tx2"/>
                </a:solidFill>
                <a:latin typeface="Arial" panose="020B0604020202020204" pitchFamily="34" charset="0"/>
              </a:rPr>
              <a:t> 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None/>
            </a:pPr>
            <a:endParaRPr lang="en-US" altLang="en-US" sz="2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  <a:t>Firms adopting AI aren’t downsizing—</a:t>
            </a:r>
            <a:b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2200" dirty="0">
                <a:solidFill>
                  <a:schemeClr val="tx2"/>
                </a:solidFill>
                <a:latin typeface="Arial" panose="020B0604020202020204" pitchFamily="34" charset="0"/>
              </a:rPr>
              <a:t>they are growing faster and hiring more overall (</a:t>
            </a:r>
            <a:r>
              <a:rPr lang="en-US" altLang="en-US" sz="2200" b="1" dirty="0">
                <a:solidFill>
                  <a:schemeClr val="accent6"/>
                </a:solidFill>
                <a:latin typeface="Arial" panose="020B0604020202020204" pitchFamily="34" charset="0"/>
              </a:rPr>
              <a:t>productivity spillovers</a:t>
            </a:r>
            <a:r>
              <a:rPr lang="en-US" altLang="en-US" sz="2200" dirty="0">
                <a:solidFill>
                  <a:schemeClr val="tx2"/>
                </a:solidFill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</a:pPr>
            <a:endParaRPr lang="en-US" altLang="en-US" sz="2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</a:pPr>
            <a: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  <a:t>AI exposure mainly changes </a:t>
            </a:r>
            <a:r>
              <a:rPr lang="en-US" altLang="en-US" sz="2600" i="1" dirty="0">
                <a:solidFill>
                  <a:schemeClr val="tx2"/>
                </a:solidFill>
                <a:latin typeface="Arial" panose="020B0604020202020204" pitchFamily="34" charset="0"/>
              </a:rPr>
              <a:t>what</a:t>
            </a:r>
            <a: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  <a:t> people do, not </a:t>
            </a:r>
            <a:r>
              <a:rPr lang="en-US" altLang="en-US" sz="2600" i="1" dirty="0">
                <a:solidFill>
                  <a:schemeClr val="tx2"/>
                </a:solidFill>
                <a:latin typeface="Arial" panose="020B0604020202020204" pitchFamily="34" charset="0"/>
              </a:rPr>
              <a:t>whether</a:t>
            </a:r>
            <a:r>
              <a:rPr lang="en-US" altLang="en-US" sz="2600" dirty="0">
                <a:solidFill>
                  <a:schemeClr val="tx2"/>
                </a:solidFill>
                <a:latin typeface="Arial" panose="020B0604020202020204" pitchFamily="34" charset="0"/>
              </a:rPr>
              <a:t> they work.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001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EFAD-9DA2-D238-D45C-80FFDBABA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674" y="2092383"/>
            <a:ext cx="8599989" cy="325196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While some tasks shrink, new ones grow, and firms that adopt AI actually hire more people. Work doesn’t disappear; it gets rearranged.</a:t>
            </a:r>
            <a:endParaRPr lang="en-US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520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A6D4-A29C-369D-91A4-FA6647BC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40641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Who Gets Replaced — and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8187B-2175-075E-B099-C5FA694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894353"/>
            <a:ext cx="12191999" cy="712859"/>
          </a:xfrm>
        </p:spPr>
        <p:txBody>
          <a:bodyPr/>
          <a:lstStyle/>
          <a:p>
            <a:pPr marL="0" indent="0" algn="ctr">
              <a:buNone/>
            </a:pPr>
            <a:r>
              <a:rPr lang="en-US" i="1" dirty="0"/>
              <a:t>AI’s impact depends on experience, skill type, and the nature of knowledge.</a:t>
            </a:r>
          </a:p>
        </p:txBody>
      </p:sp>
    </p:spTree>
    <p:extLst>
      <p:ext uri="{BB962C8B-B14F-4D97-AF65-F5344CB8AC3E}">
        <p14:creationId xmlns:p14="http://schemas.microsoft.com/office/powerpoint/2010/main" val="2443798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FD4459-2CE2-C666-63AA-6277F7E97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21" y="1687402"/>
            <a:ext cx="11353800" cy="5454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group do you think is most negatively affected by the rise of AI?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4C92EF-8B4D-EF66-1576-C03894C0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audience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28D3A519-5D2E-7F43-25EC-AD176245F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130" y="2749107"/>
            <a:ext cx="57404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49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853B-11A0-3142-159C-82FE5D71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Data Behind the Evidence (</a:t>
            </a:r>
            <a:r>
              <a:rPr lang="en-US" alt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Brynjolfsson et al, 2025). 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A9929-E251-0CA5-3839-F6C05C0DF4AA}"/>
              </a:ext>
            </a:extLst>
          </p:cNvPr>
          <p:cNvSpPr txBox="1"/>
          <p:nvPr/>
        </p:nvSpPr>
        <p:spPr>
          <a:xfrm>
            <a:off x="676154" y="6492875"/>
            <a:ext cx="98915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Brynjolfsson et al (2025). Canaries in the Coal Mine? Mine? Six Facts about the Recent Employment Effects of Artificial Intelligence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E06085-9E4B-431A-B5F8-334D5C0522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25357"/>
            <a:ext cx="10328909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payroll microdata—monthly employee records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Jul 2025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Millions of workers, tens of thousands of firms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measures: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Realized employment changes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late-2022 (by age/experience &amp; exposure)</a:t>
            </a:r>
          </a:p>
        </p:txBody>
      </p:sp>
    </p:spTree>
    <p:extLst>
      <p:ext uri="{BB962C8B-B14F-4D97-AF65-F5344CB8AC3E}">
        <p14:creationId xmlns:p14="http://schemas.microsoft.com/office/powerpoint/2010/main" val="1604398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4E9B9-6C59-6639-E954-5392C4A5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15AE-D7BD-FC8F-6CA3-8E3B0FCD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Employment for Young Workers has Declined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7475963-3649-5873-051C-A75A2180D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207" y="1563366"/>
            <a:ext cx="7188809" cy="4571715"/>
          </a:xfrm>
        </p:spPr>
      </p:pic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8B23492-EE9E-4869-09FC-2670C434D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668" y="1563366"/>
            <a:ext cx="7040468" cy="4610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143D0C-7109-53D7-8D13-B880D2096DD6}"/>
              </a:ext>
            </a:extLst>
          </p:cNvPr>
          <p:cNvSpPr txBox="1"/>
          <p:nvPr/>
        </p:nvSpPr>
        <p:spPr>
          <a:xfrm>
            <a:off x="676154" y="6492875"/>
            <a:ext cx="98915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Brynjolfsson et al (2025). Canaries in the Coal Mine? Mine? Six Facts about the Recent Employment Effects of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09357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0C2E-1B48-1D42-DA09-04D332AA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F35B-56B4-B499-897F-940C1499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1999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 Exposure Magnifies the Age Divide in Job Growth</a:t>
            </a:r>
          </a:p>
        </p:txBody>
      </p:sp>
      <p:pic>
        <p:nvPicPr>
          <p:cNvPr id="8" name="Content Placeholder 7" descr="A graph of growth and age bands&#10;&#10;AI-generated content may be incorrect.">
            <a:extLst>
              <a:ext uri="{FF2B5EF4-FFF2-40B4-BE49-F238E27FC236}">
                <a16:creationId xmlns:a16="http://schemas.microsoft.com/office/drawing/2014/main" id="{826FCDBD-B510-E5C1-B53E-BAEC5379F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2889" y="1561637"/>
            <a:ext cx="7005998" cy="454927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7430D8-7D29-C211-FC42-7249507EDBE0}"/>
              </a:ext>
            </a:extLst>
          </p:cNvPr>
          <p:cNvSpPr txBox="1"/>
          <p:nvPr/>
        </p:nvSpPr>
        <p:spPr>
          <a:xfrm>
            <a:off x="676154" y="6492875"/>
            <a:ext cx="98915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Brynjolfsson et al (2025). Canaries in the Coal Mine? Mine? Six Facts about the Recent Employment Effects of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367287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52B8-0DD1-E30C-0D8B-D6F0180B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Junior positions are diminishing</a:t>
            </a:r>
          </a:p>
        </p:txBody>
      </p:sp>
      <p:pic>
        <p:nvPicPr>
          <p:cNvPr id="5" name="Content Placeholder 4" descr="A graph of a number of years&#10;&#10;AI-generated content may be incorrect.">
            <a:extLst>
              <a:ext uri="{FF2B5EF4-FFF2-40B4-BE49-F238E27FC236}">
                <a16:creationId xmlns:a16="http://schemas.microsoft.com/office/drawing/2014/main" id="{4EBAA026-0BF2-50A5-24C9-75CC4F03C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2096" y="1374213"/>
            <a:ext cx="6235783" cy="4483867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9E1E521-AFD1-0394-2213-510A022F3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455" y="1691472"/>
            <a:ext cx="462898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2022: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Employment for juniors and seniors moved together — both expanding steadily.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2022 (AI diffusion period):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Senior positions continued to grow; junior roles flattened and then declined.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gap widens: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Senior employment (blue line) now rises sharply while junior roles (red line) fall behind.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BD7AF-7433-6240-1FF4-1BED391CAD4D}"/>
              </a:ext>
            </a:extLst>
          </p:cNvPr>
          <p:cNvSpPr txBox="1"/>
          <p:nvPr/>
        </p:nvSpPr>
        <p:spPr>
          <a:xfrm>
            <a:off x="676154" y="6492875"/>
            <a:ext cx="98915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Brynjolfsson et al (2025). Canaries in the Coal Mine? Mine? Six Facts about the Recent Employment Effects of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256213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0A825-CEDC-CBA5-90E0-AD8B9268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6699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AI-Adopting Firms Hire Fewer Juniors and More Seniors</a:t>
            </a:r>
          </a:p>
        </p:txBody>
      </p:sp>
      <p:pic>
        <p:nvPicPr>
          <p:cNvPr id="5" name="Content Placeholder 4" descr="A graph of the average growth of the stock market&#10;&#10;AI-generated content may be incorrect.">
            <a:extLst>
              <a:ext uri="{FF2B5EF4-FFF2-40B4-BE49-F238E27FC236}">
                <a16:creationId xmlns:a16="http://schemas.microsoft.com/office/drawing/2014/main" id="{104E2F16-EA2B-E0D8-C030-1A5C9A817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835" y="1908094"/>
            <a:ext cx="10934003" cy="44381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6D07B9-640A-5A7C-154C-EE38D3D8EF5E}"/>
              </a:ext>
            </a:extLst>
          </p:cNvPr>
          <p:cNvSpPr txBox="1"/>
          <p:nvPr/>
        </p:nvSpPr>
        <p:spPr>
          <a:xfrm>
            <a:off x="676154" y="6492875"/>
            <a:ext cx="98915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Brynjolfsson et al (2025). Canaries in the Coal Mine? Mine? Six Facts about the Recent Employment Effects of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891808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35FC-B11B-68FD-64AD-D26B146C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5456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 Adoption Widens the Experience Gap Across Industry</a:t>
            </a:r>
          </a:p>
        </p:txBody>
      </p:sp>
      <p:pic>
        <p:nvPicPr>
          <p:cNvPr id="5" name="Content Placeholder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19E54172-66B2-C917-82A6-810DC4613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4702" y="1852920"/>
            <a:ext cx="7338584" cy="475962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BEC15B-15B1-7B27-45B2-2977E399D15E}"/>
              </a:ext>
            </a:extLst>
          </p:cNvPr>
          <p:cNvSpPr txBox="1"/>
          <p:nvPr/>
        </p:nvSpPr>
        <p:spPr>
          <a:xfrm>
            <a:off x="676154" y="6492875"/>
            <a:ext cx="98915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Source: Brynjolfsson et al (2025). Canaries in the Coal Mine? Mine? Six Facts about the Recent Employment Effects of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541357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42F1-744B-87DB-F749-8A3CABCCD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Summary: Canaries in the Coal Mine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DC3F6-2306-2906-02EE-CB2E0EF12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610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r>
              <a:rPr lang="en-US" sz="2400" dirty="0"/>
              <a:t>Early-career workers lose ground while experience gains value</a:t>
            </a:r>
          </a:p>
          <a:p>
            <a:pPr>
              <a:lnSpc>
                <a:spcPct val="150000"/>
              </a:lnSpc>
              <a:buClr>
                <a:schemeClr val="accent2"/>
              </a:buClr>
            </a:pPr>
            <a:r>
              <a:rPr lang="en-US" sz="2400" dirty="0"/>
              <a:t>Young workers (ages 22–25) in AI-exposed jobs:</a:t>
            </a:r>
            <a:r>
              <a:rPr lang="en-US" sz="2400" dirty="0">
                <a:solidFill>
                  <a:srgbClr val="FF0000"/>
                </a:solidFill>
              </a:rPr>
              <a:t> ~ 13 % employment decline </a:t>
            </a:r>
            <a:r>
              <a:rPr lang="en-US" sz="2400" dirty="0"/>
              <a:t>since 2022. </a:t>
            </a:r>
          </a:p>
          <a:p>
            <a:pPr>
              <a:lnSpc>
                <a:spcPct val="150000"/>
              </a:lnSpc>
              <a:buClr>
                <a:schemeClr val="accent2"/>
              </a:buClr>
            </a:pPr>
            <a:r>
              <a:rPr lang="en-US" sz="2400" dirty="0"/>
              <a:t>Senior workers show productivity gains from GenAI tools.</a:t>
            </a:r>
          </a:p>
          <a:p>
            <a:pPr>
              <a:lnSpc>
                <a:spcPct val="150000"/>
              </a:lnSpc>
              <a:buClr>
                <a:schemeClr val="accent2"/>
              </a:buClr>
            </a:pPr>
            <a:r>
              <a:rPr lang="en-US" sz="2400" dirty="0"/>
              <a:t>Past automation hit factory workers; this wave hits interns. </a:t>
            </a:r>
          </a:p>
        </p:txBody>
      </p:sp>
    </p:spTree>
    <p:extLst>
      <p:ext uri="{BB962C8B-B14F-4D97-AF65-F5344CB8AC3E}">
        <p14:creationId xmlns:p14="http://schemas.microsoft.com/office/powerpoint/2010/main" val="2041214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6933-051D-C103-64AA-4296223A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C11ED-809A-4181-5295-FBE1CE49B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674" y="2092383"/>
            <a:ext cx="8599989" cy="325196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As AI spreads, experience becomes the new entry-level — opportunity rises for veterans, but the ladder narrows for beginners.</a:t>
            </a:r>
            <a:endParaRPr lang="en-US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12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66B7-39C1-0E37-02A8-15C56FFB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Historical Lens: What We’ve Seen Before?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96EE82-F87C-F2BD-DF7B-49781642CF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717" y="2090172"/>
            <a:ext cx="982236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Past industrial and digital revolutions: mechanization, computers, internet.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pattern: productivity up, tasks redefined, occupations restructured.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 is a new chapter in a long story of technological change.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263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A521-703C-5BE6-B3F4-FC25CC2F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FCCE-BDCA-A34E-2440-1FD53415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2923C7-E95A-4787-50E2-A90720459D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8020"/>
            <a:ext cx="982236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 1.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Technology doesn't simply eliminate jobs — it reshape them. It replaces some tasks, creates new ones, and transforms the rest.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 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AI-Adopting firms grow fast, and opportunities shift toward experienced worker.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 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The challenge is rebuilding entry points for the next generation.</a:t>
            </a: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996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11512</TotalTime>
  <Words>3985</Words>
  <Application>Microsoft Macintosh PowerPoint</Application>
  <PresentationFormat>Widescreen</PresentationFormat>
  <Paragraphs>296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Verdana</vt:lpstr>
      <vt:lpstr>Office Theme</vt:lpstr>
      <vt:lpstr>AI and the Future of Work</vt:lpstr>
      <vt:lpstr>Timeless Fear: Will Technology Take Our Jobs?</vt:lpstr>
      <vt:lpstr>AI Feels Different—  But Data Tells a More Nuanced Story</vt:lpstr>
      <vt:lpstr>AI Reallocates Tasks More than It Eliminates Jobs</vt:lpstr>
      <vt:lpstr>AI Has Been Widely Adopted (2014 — 2023)</vt:lpstr>
      <vt:lpstr>From our audience</vt:lpstr>
      <vt:lpstr>What a “Job” looks like?</vt:lpstr>
      <vt:lpstr>Is this Job Disappeared?</vt:lpstr>
      <vt:lpstr>Tasks vs. Jobs</vt:lpstr>
      <vt:lpstr>Task-level AI exposure</vt:lpstr>
      <vt:lpstr>Tasks, Jobs, and AI Use Cases</vt:lpstr>
      <vt:lpstr>AI-exposed Tasks Quietly Vanish From Job Postings</vt:lpstr>
      <vt:lpstr>AI Adoption Promote Employment</vt:lpstr>
      <vt:lpstr>AI Adoption Promote Firm Growth</vt:lpstr>
      <vt:lpstr>AI Reallocates Tasks More than It Eliminates Jobs</vt:lpstr>
      <vt:lpstr>PowerPoint Presentation</vt:lpstr>
      <vt:lpstr>Who Gets Replaced — and Why</vt:lpstr>
      <vt:lpstr>From the audience</vt:lpstr>
      <vt:lpstr>Data Behind the Evidence (Brynjolfsson et al, 2025). </vt:lpstr>
      <vt:lpstr>Employment for Young Workers has Declined</vt:lpstr>
      <vt:lpstr>AI Exposure Magnifies the Age Divide in Job Growth</vt:lpstr>
      <vt:lpstr>Junior positions are diminishing</vt:lpstr>
      <vt:lpstr>AI-Adopting Firms Hire Fewer Juniors and More Seniors</vt:lpstr>
      <vt:lpstr>AI Adoption Widens the Experience Gap Across Industry</vt:lpstr>
      <vt:lpstr>Summary: Canaries in the Coal Mine </vt:lpstr>
      <vt:lpstr>PowerPoint Presentation</vt:lpstr>
      <vt:lpstr>Historical Lens: What We’ve Seen Before?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Sining Wang</dc:creator>
  <cp:lastModifiedBy>Sining Wang</cp:lastModifiedBy>
  <cp:revision>36</cp:revision>
  <dcterms:created xsi:type="dcterms:W3CDTF">2025-10-14T16:11:35Z</dcterms:created>
  <dcterms:modified xsi:type="dcterms:W3CDTF">2025-10-30T03:47:26Z</dcterms:modified>
</cp:coreProperties>
</file>